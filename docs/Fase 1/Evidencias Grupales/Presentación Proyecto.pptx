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</p:sldIdLst>
  <p:sldSz cy="6858000" cx="12192000"/>
  <p:notesSz cx="6858000" cy="12192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6" roundtripDataSignature="AMtx7mj4cdkSTTxqF2MkJbiKRRsta5/ks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6" Type="http://customschemas.google.com/relationships/presentationmetadata" Target="meta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7" name="Google Shape;57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8" name="Google Shape;58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7" name="Google Shape;77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8" name="Google Shape;78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0" name="Google Shape;100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1" name="Google Shape;101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9" name="Google Shape;129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0" name="Google Shape;130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7" name="Google Shape;157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58" name="Google Shape;158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5" name="Google Shape;185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86" name="Google Shape;186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5" name="Google Shape;205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06" name="Google Shape;206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2" name="Google Shape;252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53" name="Google Shape;253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7" name="Google Shape;287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88" name="Google Shape;288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3" name="Google Shape;333;p1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34" name="Google Shape;334;p1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1" name="Google Shape;341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42" name="Google Shape;342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g3f9f02b4fd3_0_51"/>
          <p:cNvSpPr txBox="1"/>
          <p:nvPr>
            <p:ph type="ctrTitle"/>
          </p:nvPr>
        </p:nvSpPr>
        <p:spPr>
          <a:xfrm>
            <a:off x="415611" y="992767"/>
            <a:ext cx="11360700" cy="2736900"/>
          </a:xfrm>
          <a:prstGeom prst="rect">
            <a:avLst/>
          </a:prstGeom>
          <a:noFill/>
          <a:ln>
            <a:noFill/>
          </a:ln>
        </p:spPr>
        <p:txBody>
          <a:bodyPr anchorCtr="0" anchor="b" bIns="121900" lIns="121900" spcFirstLastPara="1" rIns="121900" wrap="square" tIns="1219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9pPr>
          </a:lstStyle>
          <a:p/>
        </p:txBody>
      </p:sp>
      <p:sp>
        <p:nvSpPr>
          <p:cNvPr id="16" name="Google Shape;16;g3f9f02b4fd3_0_51"/>
          <p:cNvSpPr txBox="1"/>
          <p:nvPr>
            <p:ph idx="1" type="subTitle"/>
          </p:nvPr>
        </p:nvSpPr>
        <p:spPr>
          <a:xfrm>
            <a:off x="415600" y="3778833"/>
            <a:ext cx="11360700" cy="10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9pPr>
          </a:lstStyle>
          <a:p/>
        </p:txBody>
      </p:sp>
      <p:sp>
        <p:nvSpPr>
          <p:cNvPr id="17" name="Google Shape;17;g3f9f02b4fd3_0_51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g3f9f02b4fd3_0_55"/>
          <p:cNvSpPr txBox="1"/>
          <p:nvPr>
            <p:ph type="title"/>
          </p:nvPr>
        </p:nvSpPr>
        <p:spPr>
          <a:xfrm>
            <a:off x="415600" y="2867800"/>
            <a:ext cx="11360700" cy="112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20" name="Google Shape;20;g3f9f02b4fd3_0_55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g3f9f02b4fd3_0_58"/>
          <p:cNvSpPr txBox="1"/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23" name="Google Shape;23;g3f9f02b4fd3_0_58"/>
          <p:cNvSpPr txBox="1"/>
          <p:nvPr>
            <p:ph idx="1" type="body"/>
          </p:nvPr>
        </p:nvSpPr>
        <p:spPr>
          <a:xfrm>
            <a:off x="415600" y="1536633"/>
            <a:ext cx="113607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810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92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2pPr>
            <a:lvl3pPr indent="-3492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3pPr>
            <a:lvl4pPr indent="-3492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4pPr>
            <a:lvl5pPr indent="-3492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5pPr>
            <a:lvl6pPr indent="-3492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6pPr>
            <a:lvl7pPr indent="-3492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7pPr>
            <a:lvl8pPr indent="-3492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8pPr>
            <a:lvl9pPr indent="-3492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9pPr>
          </a:lstStyle>
          <a:p/>
        </p:txBody>
      </p:sp>
      <p:sp>
        <p:nvSpPr>
          <p:cNvPr id="24" name="Google Shape;24;g3f9f02b4fd3_0_58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g3f9f02b4fd3_0_62"/>
          <p:cNvSpPr txBox="1"/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27" name="Google Shape;27;g3f9f02b4fd3_0_62"/>
          <p:cNvSpPr txBox="1"/>
          <p:nvPr>
            <p:ph idx="1" type="body"/>
          </p:nvPr>
        </p:nvSpPr>
        <p:spPr>
          <a:xfrm>
            <a:off x="415600" y="1536633"/>
            <a:ext cx="53331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492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  <a:defRPr sz="1900"/>
            </a:lvl1pPr>
            <a:lvl2pPr indent="-3302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indent="-3302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indent="-3302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indent="-3302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indent="-3302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indent="-3302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indent="-3302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indent="-3302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/>
        </p:txBody>
      </p:sp>
      <p:sp>
        <p:nvSpPr>
          <p:cNvPr id="28" name="Google Shape;28;g3f9f02b4fd3_0_62"/>
          <p:cNvSpPr txBox="1"/>
          <p:nvPr>
            <p:ph idx="2" type="body"/>
          </p:nvPr>
        </p:nvSpPr>
        <p:spPr>
          <a:xfrm>
            <a:off x="6443200" y="1536633"/>
            <a:ext cx="53331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492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  <a:defRPr sz="1900"/>
            </a:lvl1pPr>
            <a:lvl2pPr indent="-3302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indent="-3302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indent="-3302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indent="-3302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indent="-3302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indent="-3302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indent="-3302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indent="-3302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/>
        </p:txBody>
      </p:sp>
      <p:sp>
        <p:nvSpPr>
          <p:cNvPr id="29" name="Google Shape;29;g3f9f02b4fd3_0_62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g3f9f02b4fd3_0_67"/>
          <p:cNvSpPr txBox="1"/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32" name="Google Shape;32;g3f9f02b4fd3_0_67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g3f9f02b4fd3_0_70"/>
          <p:cNvSpPr txBox="1"/>
          <p:nvPr>
            <p:ph type="title"/>
          </p:nvPr>
        </p:nvSpPr>
        <p:spPr>
          <a:xfrm>
            <a:off x="415600" y="740800"/>
            <a:ext cx="3744000" cy="1007700"/>
          </a:xfrm>
          <a:prstGeom prst="rect">
            <a:avLst/>
          </a:prstGeom>
          <a:noFill/>
          <a:ln>
            <a:noFill/>
          </a:ln>
        </p:spPr>
        <p:txBody>
          <a:bodyPr anchorCtr="0" anchor="b" bIns="121900" lIns="121900" spcFirstLastPara="1" rIns="121900" wrap="square" tIns="1219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9pPr>
          </a:lstStyle>
          <a:p/>
        </p:txBody>
      </p:sp>
      <p:sp>
        <p:nvSpPr>
          <p:cNvPr id="35" name="Google Shape;35;g3f9f02b4fd3_0_70"/>
          <p:cNvSpPr txBox="1"/>
          <p:nvPr>
            <p:ph idx="1" type="body"/>
          </p:nvPr>
        </p:nvSpPr>
        <p:spPr>
          <a:xfrm>
            <a:off x="415600" y="1852800"/>
            <a:ext cx="3744000" cy="42393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302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1pPr>
            <a:lvl2pPr indent="-3302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indent="-3302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indent="-3302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indent="-3302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indent="-3302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indent="-3302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indent="-3302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indent="-3302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/>
        </p:txBody>
      </p:sp>
      <p:sp>
        <p:nvSpPr>
          <p:cNvPr id="36" name="Google Shape;36;g3f9f02b4fd3_0_70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g3f9f02b4fd3_0_74"/>
          <p:cNvSpPr txBox="1"/>
          <p:nvPr>
            <p:ph type="title"/>
          </p:nvPr>
        </p:nvSpPr>
        <p:spPr>
          <a:xfrm>
            <a:off x="653667" y="600200"/>
            <a:ext cx="8490300" cy="545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9pPr>
          </a:lstStyle>
          <a:p/>
        </p:txBody>
      </p:sp>
      <p:sp>
        <p:nvSpPr>
          <p:cNvPr id="39" name="Google Shape;39;g3f9f02b4fd3_0_74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g3f9f02b4fd3_0_77"/>
          <p:cNvSpPr/>
          <p:nvPr/>
        </p:nvSpPr>
        <p:spPr>
          <a:xfrm>
            <a:off x="6096000" y="-167"/>
            <a:ext cx="6096000" cy="6858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" name="Google Shape;42;g3f9f02b4fd3_0_77"/>
          <p:cNvSpPr txBox="1"/>
          <p:nvPr>
            <p:ph type="title"/>
          </p:nvPr>
        </p:nvSpPr>
        <p:spPr>
          <a:xfrm>
            <a:off x="354000" y="1644233"/>
            <a:ext cx="5393700" cy="1976400"/>
          </a:xfrm>
          <a:prstGeom prst="rect">
            <a:avLst/>
          </a:prstGeom>
          <a:noFill/>
          <a:ln>
            <a:noFill/>
          </a:ln>
        </p:spPr>
        <p:txBody>
          <a:bodyPr anchorCtr="0" anchor="b" bIns="121900" lIns="121900" spcFirstLastPara="1" rIns="121900" wrap="square" tIns="1219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9pPr>
          </a:lstStyle>
          <a:p/>
        </p:txBody>
      </p:sp>
      <p:sp>
        <p:nvSpPr>
          <p:cNvPr id="43" name="Google Shape;43;g3f9f02b4fd3_0_77"/>
          <p:cNvSpPr txBox="1"/>
          <p:nvPr>
            <p:ph idx="1" type="subTitle"/>
          </p:nvPr>
        </p:nvSpPr>
        <p:spPr>
          <a:xfrm>
            <a:off x="354000" y="3737433"/>
            <a:ext cx="5393700" cy="16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44" name="Google Shape;44;g3f9f02b4fd3_0_77"/>
          <p:cNvSpPr txBox="1"/>
          <p:nvPr>
            <p:ph idx="2" type="body"/>
          </p:nvPr>
        </p:nvSpPr>
        <p:spPr>
          <a:xfrm>
            <a:off x="6586000" y="965433"/>
            <a:ext cx="5115900" cy="492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-3810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92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2pPr>
            <a:lvl3pPr indent="-3492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3pPr>
            <a:lvl4pPr indent="-3492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4pPr>
            <a:lvl5pPr indent="-3492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5pPr>
            <a:lvl6pPr indent="-3492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6pPr>
            <a:lvl7pPr indent="-3492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7pPr>
            <a:lvl8pPr indent="-3492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8pPr>
            <a:lvl9pPr indent="-3492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9pPr>
          </a:lstStyle>
          <a:p/>
        </p:txBody>
      </p:sp>
      <p:sp>
        <p:nvSpPr>
          <p:cNvPr id="45" name="Google Shape;45;g3f9f02b4fd3_0_77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g3f9f02b4fd3_0_83"/>
          <p:cNvSpPr txBox="1"/>
          <p:nvPr>
            <p:ph idx="1" type="body"/>
          </p:nvPr>
        </p:nvSpPr>
        <p:spPr>
          <a:xfrm>
            <a:off x="415600" y="5640767"/>
            <a:ext cx="7998300" cy="80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</a:lstStyle>
          <a:p/>
        </p:txBody>
      </p:sp>
      <p:sp>
        <p:nvSpPr>
          <p:cNvPr id="48" name="Google Shape;48;g3f9f02b4fd3_0_83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g3f9f02b4fd3_0_86"/>
          <p:cNvSpPr txBox="1"/>
          <p:nvPr>
            <p:ph hasCustomPrompt="1" type="title"/>
          </p:nvPr>
        </p:nvSpPr>
        <p:spPr>
          <a:xfrm>
            <a:off x="415600" y="1474833"/>
            <a:ext cx="11360700" cy="2618100"/>
          </a:xfrm>
          <a:prstGeom prst="rect">
            <a:avLst/>
          </a:prstGeom>
          <a:noFill/>
          <a:ln>
            <a:noFill/>
          </a:ln>
        </p:spPr>
        <p:txBody>
          <a:bodyPr anchorCtr="0" anchor="b" bIns="121900" lIns="121900" spcFirstLastPara="1" rIns="121900" wrap="square" tIns="1219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9pPr>
          </a:lstStyle>
          <a:p>
            <a:r>
              <a:t>xx%</a:t>
            </a:r>
          </a:p>
        </p:txBody>
      </p:sp>
      <p:sp>
        <p:nvSpPr>
          <p:cNvPr id="51" name="Google Shape;51;g3f9f02b4fd3_0_86"/>
          <p:cNvSpPr txBox="1"/>
          <p:nvPr>
            <p:ph idx="1" type="body"/>
          </p:nvPr>
        </p:nvSpPr>
        <p:spPr>
          <a:xfrm>
            <a:off x="415600" y="4202967"/>
            <a:ext cx="11360700" cy="1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810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925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2pPr>
            <a:lvl3pPr indent="-34925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3pPr>
            <a:lvl4pPr indent="-34925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4pPr>
            <a:lvl5pPr indent="-34925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5pPr>
            <a:lvl6pPr indent="-34925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6pPr>
            <a:lvl7pPr indent="-34925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7pPr>
            <a:lvl8pPr indent="-34925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8pPr>
            <a:lvl9pPr indent="-34925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9pPr>
          </a:lstStyle>
          <a:p/>
        </p:txBody>
      </p:sp>
      <p:sp>
        <p:nvSpPr>
          <p:cNvPr id="52" name="Google Shape;52;g3f9f02b4fd3_0_86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g3f9f02b4fd3_0_90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g3f9f02b4fd3_0_47"/>
          <p:cNvSpPr txBox="1"/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Arial"/>
              <a:buNone/>
              <a:defRPr b="0" i="0" sz="3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Arial"/>
              <a:buNone/>
              <a:defRPr b="0" i="0" sz="3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Arial"/>
              <a:buNone/>
              <a:defRPr b="0" i="0" sz="3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Arial"/>
              <a:buNone/>
              <a:defRPr b="0" i="0" sz="3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Arial"/>
              <a:buNone/>
              <a:defRPr b="0" i="0" sz="3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Arial"/>
              <a:buNone/>
              <a:defRPr b="0" i="0" sz="3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Arial"/>
              <a:buNone/>
              <a:defRPr b="0" i="0" sz="3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Arial"/>
              <a:buNone/>
              <a:defRPr b="0" i="0" sz="3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Arial"/>
              <a:buNone/>
              <a:defRPr b="0" i="0" sz="3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g3f9f02b4fd3_0_47"/>
          <p:cNvSpPr txBox="1"/>
          <p:nvPr>
            <p:ph idx="1" type="body"/>
          </p:nvPr>
        </p:nvSpPr>
        <p:spPr>
          <a:xfrm>
            <a:off x="415600" y="1536633"/>
            <a:ext cx="113607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810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Arial"/>
              <a:buChar char="●"/>
              <a:defRPr b="0" i="0" sz="2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925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Arial"/>
              <a:buChar char="○"/>
              <a:defRPr b="0" i="0" sz="19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4925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Arial"/>
              <a:buChar char="■"/>
              <a:defRPr b="0" i="0" sz="19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925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Arial"/>
              <a:buChar char="●"/>
              <a:defRPr b="0" i="0" sz="19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925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Arial"/>
              <a:buChar char="○"/>
              <a:defRPr b="0" i="0" sz="19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925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Arial"/>
              <a:buChar char="■"/>
              <a:defRPr b="0" i="0" sz="19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925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Arial"/>
              <a:buChar char="●"/>
              <a:defRPr b="0" i="0" sz="19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925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Arial"/>
              <a:buChar char="○"/>
              <a:defRPr b="0" i="0" sz="19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925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Arial"/>
              <a:buChar char="■"/>
              <a:defRPr b="0" i="0" sz="19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" name="Google Shape;12;g3f9f02b4fd3_0_47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5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openxmlformats.org/officeDocument/2006/relationships/image" Target="../media/image5.png"/><Relationship Id="rId6" Type="http://schemas.openxmlformats.org/officeDocument/2006/relationships/image" Target="../media/image6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7.png"/><Relationship Id="rId4" Type="http://schemas.openxmlformats.org/officeDocument/2006/relationships/image" Target="../media/image4.png"/><Relationship Id="rId5" Type="http://schemas.openxmlformats.org/officeDocument/2006/relationships/image" Target="../media/image2.png"/><Relationship Id="rId6" Type="http://schemas.openxmlformats.org/officeDocument/2006/relationships/image" Target="../media/image6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Relationship Id="rId4" Type="http://schemas.openxmlformats.org/officeDocument/2006/relationships/image" Target="../media/image9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9.png"/><Relationship Id="rId4" Type="http://schemas.openxmlformats.org/officeDocument/2006/relationships/image" Target="../media/image16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7.png"/><Relationship Id="rId4" Type="http://schemas.openxmlformats.org/officeDocument/2006/relationships/image" Target="../media/image10.png"/><Relationship Id="rId5" Type="http://schemas.openxmlformats.org/officeDocument/2006/relationships/image" Target="../media/image8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2.png"/><Relationship Id="rId4" Type="http://schemas.openxmlformats.org/officeDocument/2006/relationships/image" Target="../media/image11.png"/><Relationship Id="rId5" Type="http://schemas.openxmlformats.org/officeDocument/2006/relationships/image" Target="../media/image13.png"/><Relationship Id="rId6" Type="http://schemas.openxmlformats.org/officeDocument/2006/relationships/image" Target="../media/image14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5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3E8ED"/>
        </a:solidFill>
      </p:bgPr>
    </p:bg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"/>
          <p:cNvSpPr/>
          <p:nvPr/>
        </p:nvSpPr>
        <p:spPr>
          <a:xfrm>
            <a:off x="777260" y="1463045"/>
            <a:ext cx="73152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A900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EF6A23"/>
                </a:solidFill>
                <a:latin typeface="Calibri"/>
                <a:ea typeface="Calibri"/>
                <a:cs typeface="Calibri"/>
                <a:sym typeface="Calibri"/>
              </a:rPr>
              <a:t>PROYECTO APT · FASE 1 — DEFINICIÓN</a:t>
            </a:r>
            <a:endParaRPr b="0" i="0" sz="1400" u="none" cap="none" strike="noStrike">
              <a:solidFill>
                <a:srgbClr val="EF6A2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1"/>
          <p:cNvSpPr/>
          <p:nvPr/>
        </p:nvSpPr>
        <p:spPr>
          <a:xfrm>
            <a:off x="777240" y="1828800"/>
            <a:ext cx="960120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0"/>
              <a:buFont typeface="Cambria"/>
              <a:buNone/>
            </a:pPr>
            <a:r>
              <a:rPr b="1" i="0" lang="en-US" sz="6000" u="none" cap="none" strike="noStrike">
                <a:solidFill>
                  <a:srgbClr val="EF6A23"/>
                </a:solidFill>
                <a:latin typeface="Cambria"/>
                <a:ea typeface="Cambria"/>
                <a:cs typeface="Cambria"/>
                <a:sym typeface="Cambria"/>
              </a:rPr>
              <a:t>SEI DIGITALS</a:t>
            </a:r>
            <a:endParaRPr b="0" i="0" sz="6000" u="none" cap="none" strike="noStrike">
              <a:solidFill>
                <a:srgbClr val="EF6A2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1"/>
          <p:cNvSpPr/>
          <p:nvPr/>
        </p:nvSpPr>
        <p:spPr>
          <a:xfrm>
            <a:off x="822950" y="2971800"/>
            <a:ext cx="4965600" cy="97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FE0EA"/>
              </a:buClr>
              <a:buSzPts val="1700"/>
              <a:buFont typeface="Calibri"/>
              <a:buNone/>
            </a:pPr>
            <a:r>
              <a:rPr b="0" i="0" lang="en-US" sz="1700" u="none" cap="none" strike="noStrik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rPr>
              <a:t>Plataforma web de gestión integral con dashboards y analítica predictiva para FL Servicios Eléctricos Integrales SpA</a:t>
            </a:r>
            <a:endParaRPr b="0" i="0" sz="1700" u="none" cap="none" strike="noStrike">
              <a:solidFill>
                <a:srgbClr val="43434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3" name="Google Shape;63;p1"/>
          <p:cNvCxnSpPr/>
          <p:nvPr/>
        </p:nvCxnSpPr>
        <p:spPr>
          <a:xfrm>
            <a:off x="822960" y="4197840"/>
            <a:ext cx="2926200" cy="0"/>
          </a:xfrm>
          <a:prstGeom prst="straightConnector1">
            <a:avLst/>
          </a:prstGeom>
          <a:noFill/>
          <a:ln cap="flat" cmpd="sng" w="25400">
            <a:solidFill>
              <a:srgbClr val="F2A9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4" name="Google Shape;64;p1"/>
          <p:cNvSpPr/>
          <p:nvPr/>
        </p:nvSpPr>
        <p:spPr>
          <a:xfrm>
            <a:off x="884085" y="4446200"/>
            <a:ext cx="457200" cy="457200"/>
          </a:xfrm>
          <a:prstGeom prst="ellipse">
            <a:avLst/>
          </a:prstGeom>
          <a:solidFill>
            <a:srgbClr val="1F6F8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cons/team.png" id="65" name="Google Shape;65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86955" y="4549070"/>
            <a:ext cx="251460" cy="251460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p1"/>
          <p:cNvSpPr/>
          <p:nvPr/>
        </p:nvSpPr>
        <p:spPr>
          <a:xfrm>
            <a:off x="1478445" y="4446200"/>
            <a:ext cx="2103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1" i="0" lang="en-US" sz="1600" u="none" cap="none" strike="noStrike">
                <a:solidFill>
                  <a:srgbClr val="434343"/>
                </a:solidFill>
                <a:latin typeface="Calibri"/>
                <a:ea typeface="Calibri"/>
                <a:cs typeface="Calibri"/>
                <a:sym typeface="Calibri"/>
              </a:rPr>
              <a:t>Moisés Roa</a:t>
            </a:r>
            <a:endParaRPr b="0" i="0" sz="1600" u="none" cap="none" strike="noStrike">
              <a:solidFill>
                <a:srgbClr val="43434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1"/>
          <p:cNvSpPr/>
          <p:nvPr/>
        </p:nvSpPr>
        <p:spPr>
          <a:xfrm>
            <a:off x="3627285" y="4446200"/>
            <a:ext cx="457200" cy="457200"/>
          </a:xfrm>
          <a:prstGeom prst="ellipse">
            <a:avLst/>
          </a:prstGeom>
          <a:solidFill>
            <a:srgbClr val="1F6F8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cons/team.png" id="68" name="Google Shape;68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730155" y="4549070"/>
            <a:ext cx="251460" cy="251460"/>
          </a:xfrm>
          <a:prstGeom prst="rect">
            <a:avLst/>
          </a:prstGeom>
          <a:noFill/>
          <a:ln>
            <a:noFill/>
          </a:ln>
        </p:spPr>
      </p:pic>
      <p:sp>
        <p:nvSpPr>
          <p:cNvPr id="69" name="Google Shape;69;p1"/>
          <p:cNvSpPr/>
          <p:nvPr/>
        </p:nvSpPr>
        <p:spPr>
          <a:xfrm>
            <a:off x="4221645" y="4446200"/>
            <a:ext cx="2103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1" i="0" lang="en-US" sz="1600" u="none" cap="none" strike="noStrike">
                <a:solidFill>
                  <a:srgbClr val="434343"/>
                </a:solidFill>
                <a:latin typeface="Calibri"/>
                <a:ea typeface="Calibri"/>
                <a:cs typeface="Calibri"/>
                <a:sym typeface="Calibri"/>
              </a:rPr>
              <a:t>Tomás Vega</a:t>
            </a:r>
            <a:endParaRPr b="0" i="0" sz="1600" u="none" cap="none" strike="noStrike">
              <a:solidFill>
                <a:srgbClr val="43434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1"/>
          <p:cNvSpPr/>
          <p:nvPr/>
        </p:nvSpPr>
        <p:spPr>
          <a:xfrm>
            <a:off x="6370485" y="4446200"/>
            <a:ext cx="457200" cy="457200"/>
          </a:xfrm>
          <a:prstGeom prst="ellipse">
            <a:avLst/>
          </a:prstGeom>
          <a:solidFill>
            <a:srgbClr val="1F6F8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cons/team.png" id="71" name="Google Shape;71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473355" y="4549070"/>
            <a:ext cx="251460" cy="251460"/>
          </a:xfrm>
          <a:prstGeom prst="rect">
            <a:avLst/>
          </a:prstGeom>
          <a:noFill/>
          <a:ln>
            <a:noFill/>
          </a:ln>
        </p:spPr>
      </p:pic>
      <p:sp>
        <p:nvSpPr>
          <p:cNvPr id="72" name="Google Shape;72;p1"/>
          <p:cNvSpPr/>
          <p:nvPr/>
        </p:nvSpPr>
        <p:spPr>
          <a:xfrm>
            <a:off x="6964845" y="4446200"/>
            <a:ext cx="2103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1" i="0" lang="en-US" sz="1600" u="none" cap="none" strike="noStrike">
                <a:solidFill>
                  <a:srgbClr val="434343"/>
                </a:solidFill>
                <a:latin typeface="Calibri"/>
                <a:ea typeface="Calibri"/>
                <a:cs typeface="Calibri"/>
                <a:sym typeface="Calibri"/>
              </a:rPr>
              <a:t>Natanael Yáñez</a:t>
            </a:r>
            <a:endParaRPr b="0" i="0" sz="1600" u="none" cap="none" strike="noStrike">
              <a:solidFill>
                <a:srgbClr val="43434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1"/>
          <p:cNvSpPr/>
          <p:nvPr/>
        </p:nvSpPr>
        <p:spPr>
          <a:xfrm>
            <a:off x="822960" y="5989320"/>
            <a:ext cx="5486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FB4C2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Ingeniería Informática  ·  Sede Viña del Mar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4" name="Google Shape;74;p1" title="Screenshot_1 (1)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04375" y="1125475"/>
            <a:ext cx="5014025" cy="3080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3E8ED"/>
        </a:solidFill>
      </p:bgPr>
    </p:bg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2"/>
          <p:cNvSpPr/>
          <p:nvPr/>
        </p:nvSpPr>
        <p:spPr>
          <a:xfrm>
            <a:off x="548640" y="299473"/>
            <a:ext cx="73152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6F8B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F6F8B"/>
                </a:solidFill>
                <a:latin typeface="Calibri"/>
                <a:ea typeface="Calibri"/>
                <a:cs typeface="Calibri"/>
                <a:sym typeface="Calibri"/>
              </a:rPr>
              <a:t>PROBLEMÁTICA Y CONTEXTO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2"/>
          <p:cNvSpPr/>
          <p:nvPr/>
        </p:nvSpPr>
        <p:spPr>
          <a:xfrm>
            <a:off x="548640" y="658368"/>
            <a:ext cx="77724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733"/>
              </a:buClr>
              <a:buSzPts val="3200"/>
              <a:buFont typeface="Cambria"/>
              <a:buNone/>
            </a:pPr>
            <a:r>
              <a:rPr b="1" i="0" lang="en-US" sz="3200" u="none" cap="none" strike="noStrike">
                <a:solidFill>
                  <a:srgbClr val="1B2733"/>
                </a:solidFill>
                <a:latin typeface="Cambria"/>
                <a:ea typeface="Cambria"/>
                <a:cs typeface="Cambria"/>
                <a:sym typeface="Cambria"/>
              </a:rPr>
              <a:t>Una operación que aún vive en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733"/>
              </a:buClr>
              <a:buSzPts val="3200"/>
              <a:buFont typeface="Cambria"/>
              <a:buNone/>
            </a:pPr>
            <a:r>
              <a:rPr b="1" i="0" lang="en-US" sz="3200" u="none" cap="none" strike="noStrike">
                <a:solidFill>
                  <a:srgbClr val="1B2733"/>
                </a:solidFill>
                <a:latin typeface="Cambria"/>
                <a:ea typeface="Cambria"/>
                <a:cs typeface="Cambria"/>
                <a:sym typeface="Cambria"/>
              </a:rPr>
              <a:t>planillas Excel dispersas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2"/>
          <p:cNvSpPr/>
          <p:nvPr/>
        </p:nvSpPr>
        <p:spPr>
          <a:xfrm>
            <a:off x="548640" y="1874520"/>
            <a:ext cx="5989320" cy="4160520"/>
          </a:xfrm>
          <a:prstGeom prst="roundRect">
            <a:avLst>
              <a:gd fmla="val 2637" name="adj"/>
            </a:avLst>
          </a:prstGeom>
          <a:solidFill>
            <a:srgbClr val="F6F8FA"/>
          </a:solidFill>
          <a:ln cap="flat" cmpd="sng" w="12700">
            <a:solidFill>
              <a:srgbClr val="E3E8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83" name="Google Shape;83;p2"/>
          <p:cNvCxnSpPr/>
          <p:nvPr/>
        </p:nvCxnSpPr>
        <p:spPr>
          <a:xfrm>
            <a:off x="868680" y="4069080"/>
            <a:ext cx="5349240" cy="0"/>
          </a:xfrm>
          <a:prstGeom prst="straightConnector1">
            <a:avLst/>
          </a:prstGeom>
          <a:noFill/>
          <a:ln cap="flat" cmpd="sng" w="12700">
            <a:solidFill>
              <a:srgbClr val="E3E8ED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4" name="Google Shape;84;p2"/>
          <p:cNvSpPr/>
          <p:nvPr/>
        </p:nvSpPr>
        <p:spPr>
          <a:xfrm>
            <a:off x="868680" y="4251960"/>
            <a:ext cx="5394960" cy="1645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32B45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132B45"/>
                </a:solidFill>
                <a:latin typeface="Calibri"/>
                <a:ea typeface="Calibri"/>
                <a:cs typeface="Calibri"/>
                <a:sym typeface="Calibri"/>
              </a:rPr>
              <a:t>El lugar</a:t>
            </a:r>
            <a:br>
              <a:rPr b="1" i="0" lang="en-US" sz="1500" u="none" cap="none" strike="noStrike">
                <a:solidFill>
                  <a:srgbClr val="132B45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733"/>
              </a:buClr>
              <a:buSzPts val="1350"/>
              <a:buFont typeface="Calibri"/>
              <a:buNone/>
            </a:pPr>
            <a:r>
              <a:rPr b="0" i="0" lang="en-US" sz="1450" u="none" cap="none" strike="noStrike">
                <a:solidFill>
                  <a:srgbClr val="1B2733"/>
                </a:solidFill>
                <a:latin typeface="Calibri"/>
                <a:ea typeface="Calibri"/>
                <a:cs typeface="Calibri"/>
                <a:sym typeface="Calibri"/>
              </a:rPr>
              <a:t>Quinta región, Provincia de Valparaíso</a:t>
            </a:r>
            <a:endParaRPr b="0" i="0" sz="1450" u="none" cap="none" strike="noStrike">
              <a:solidFill>
                <a:srgbClr val="1B273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733"/>
              </a:buClr>
              <a:buSzPts val="1350"/>
              <a:buFont typeface="Calibri"/>
              <a:buNone/>
            </a:pPr>
            <a:r>
              <a:rPr b="0" i="0" lang="en-US" sz="1450" u="none" cap="none" strike="noStrike">
                <a:solidFill>
                  <a:srgbClr val="1B2733"/>
                </a:solidFill>
                <a:latin typeface="Calibri"/>
                <a:ea typeface="Calibri"/>
                <a:cs typeface="Calibri"/>
                <a:sym typeface="Calibri"/>
              </a:rPr>
              <a:t>Operaciones principalmente en comunas de Viña del Mar y Valparaíso</a:t>
            </a:r>
            <a:endParaRPr b="0" i="0" sz="1450" u="none" cap="none" strike="noStrike">
              <a:solidFill>
                <a:srgbClr val="1B273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2"/>
          <p:cNvSpPr/>
          <p:nvPr/>
        </p:nvSpPr>
        <p:spPr>
          <a:xfrm>
            <a:off x="6766550" y="1874525"/>
            <a:ext cx="4892100" cy="4412700"/>
          </a:xfrm>
          <a:prstGeom prst="roundRect">
            <a:avLst>
              <a:gd fmla="val 2637" name="adj"/>
            </a:avLst>
          </a:prstGeom>
          <a:solidFill>
            <a:srgbClr val="132B4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" name="Google Shape;86;p2"/>
          <p:cNvSpPr/>
          <p:nvPr/>
        </p:nvSpPr>
        <p:spPr>
          <a:xfrm>
            <a:off x="7086600" y="2103120"/>
            <a:ext cx="42976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A900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F2A900"/>
                </a:solidFill>
                <a:latin typeface="Calibri"/>
                <a:ea typeface="Calibri"/>
                <a:cs typeface="Calibri"/>
                <a:sym typeface="Calibri"/>
              </a:rPr>
              <a:t>¿A quiénes afecta?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2"/>
          <p:cNvSpPr/>
          <p:nvPr/>
        </p:nvSpPr>
        <p:spPr>
          <a:xfrm>
            <a:off x="7086600" y="2606040"/>
            <a:ext cx="457200" cy="457200"/>
          </a:xfrm>
          <a:prstGeom prst="ellipse">
            <a:avLst/>
          </a:prstGeom>
          <a:solidFill>
            <a:srgbClr val="1F6F8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cons/team.png" id="88" name="Google Shape;88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189470" y="2708910"/>
            <a:ext cx="251460" cy="251460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2"/>
          <p:cNvSpPr/>
          <p:nvPr/>
        </p:nvSpPr>
        <p:spPr>
          <a:xfrm>
            <a:off x="7726680" y="2578608"/>
            <a:ext cx="370332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Gerencia y personal administrativo</a:t>
            </a:r>
            <a:br>
              <a:rPr b="1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9D6DE"/>
              </a:buClr>
              <a:buSzPts val="1150"/>
              <a:buFont typeface="Calibri"/>
              <a:buNone/>
            </a:pPr>
            <a:r>
              <a:rPr b="0" i="0" lang="en-US" sz="1350" u="none" cap="none" strike="noStrike">
                <a:solidFill>
                  <a:srgbClr val="C9D6DE"/>
                </a:solidFill>
                <a:latin typeface="Calibri"/>
                <a:ea typeface="Calibri"/>
                <a:cs typeface="Calibri"/>
                <a:sym typeface="Calibri"/>
              </a:rPr>
              <a:t>Responsables de registrar y consolidar la información.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2"/>
          <p:cNvSpPr/>
          <p:nvPr/>
        </p:nvSpPr>
        <p:spPr>
          <a:xfrm>
            <a:off x="7086600" y="3776472"/>
            <a:ext cx="457200" cy="457200"/>
          </a:xfrm>
          <a:prstGeom prst="ellipse">
            <a:avLst/>
          </a:prstGeom>
          <a:solidFill>
            <a:srgbClr val="1F6F8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cons/heart.png" id="91" name="Google Shape;91;p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189470" y="3879342"/>
            <a:ext cx="251460" cy="251460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2"/>
          <p:cNvSpPr/>
          <p:nvPr/>
        </p:nvSpPr>
        <p:spPr>
          <a:xfrm>
            <a:off x="7726680" y="3749040"/>
            <a:ext cx="370332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Clientes</a:t>
            </a:r>
            <a:br>
              <a:rPr b="1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9D6DE"/>
              </a:buClr>
              <a:buSzPts val="1150"/>
              <a:buFont typeface="Calibri"/>
              <a:buNone/>
            </a:pPr>
            <a:r>
              <a:rPr b="0" i="0" lang="en-US" sz="1350" u="none" cap="none" strike="noStrike">
                <a:solidFill>
                  <a:srgbClr val="C9D6DE"/>
                </a:solidFill>
                <a:latin typeface="Calibri"/>
                <a:ea typeface="Calibri"/>
                <a:cs typeface="Calibri"/>
                <a:sym typeface="Calibri"/>
              </a:rPr>
              <a:t>Su estado de facturación y pagos debe ser trazable.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2"/>
          <p:cNvSpPr/>
          <p:nvPr/>
        </p:nvSpPr>
        <p:spPr>
          <a:xfrm>
            <a:off x="7086600" y="4946904"/>
            <a:ext cx="457200" cy="457200"/>
          </a:xfrm>
          <a:prstGeom prst="ellipse">
            <a:avLst/>
          </a:prstGeom>
          <a:solidFill>
            <a:srgbClr val="1F6F8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cons/network.png" id="94" name="Google Shape;94;p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189470" y="5049774"/>
            <a:ext cx="251460" cy="251460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2"/>
          <p:cNvSpPr/>
          <p:nvPr/>
        </p:nvSpPr>
        <p:spPr>
          <a:xfrm>
            <a:off x="7726680" y="4919472"/>
            <a:ext cx="370332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Proveedores</a:t>
            </a:r>
            <a:br>
              <a:rPr b="1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9D6DE"/>
              </a:buClr>
              <a:buSzPts val="1150"/>
              <a:buFont typeface="Calibri"/>
              <a:buNone/>
            </a:pPr>
            <a:r>
              <a:rPr b="0" i="0" lang="en-US" sz="1350" u="none" cap="none" strike="noStrike">
                <a:solidFill>
                  <a:srgbClr val="C9D6DE"/>
                </a:solidFill>
                <a:latin typeface="Calibri"/>
                <a:ea typeface="Calibri"/>
                <a:cs typeface="Calibri"/>
                <a:sym typeface="Calibri"/>
              </a:rPr>
              <a:t>Sus compras y pagos asociados deben quedar registrados y controlados.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2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B6B79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B6B79"/>
                </a:solidFill>
                <a:latin typeface="Calibri"/>
                <a:ea typeface="Calibri"/>
                <a:cs typeface="Calibri"/>
                <a:sym typeface="Calibri"/>
              </a:rPr>
              <a:t>02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2"/>
          <p:cNvSpPr/>
          <p:nvPr/>
        </p:nvSpPr>
        <p:spPr>
          <a:xfrm>
            <a:off x="845850" y="2001025"/>
            <a:ext cx="5394900" cy="1878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32B45"/>
              </a:buClr>
              <a:buSzPts val="1500"/>
              <a:buFont typeface="Calibri"/>
              <a:buNone/>
            </a:pPr>
            <a:r>
              <a:rPr b="1" i="0" lang="en-US" sz="1600" u="none" cap="none" strike="noStrike">
                <a:solidFill>
                  <a:srgbClr val="132B45"/>
                </a:solidFill>
                <a:latin typeface="Calibri"/>
                <a:ea typeface="Calibri"/>
                <a:cs typeface="Calibri"/>
                <a:sym typeface="Calibri"/>
              </a:rPr>
              <a:t>El problema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20675" lvl="0" marL="457200" marR="0" rtl="0" algn="just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1B2733"/>
              </a:buClr>
              <a:buSzPts val="1450"/>
              <a:buFont typeface="Calibri"/>
              <a:buChar char="●"/>
            </a:pPr>
            <a:r>
              <a:rPr b="0" i="0" lang="en-US" sz="1450" u="none" cap="none" strike="noStrike">
                <a:solidFill>
                  <a:srgbClr val="1B2733"/>
                </a:solidFill>
                <a:latin typeface="Calibri"/>
                <a:ea typeface="Calibri"/>
                <a:cs typeface="Calibri"/>
                <a:sym typeface="Calibri"/>
              </a:rPr>
              <a:t>Información operacional manejada manualmente en planillas Excel</a:t>
            </a:r>
            <a:endParaRPr b="0" i="0" sz="1450" u="none" cap="none" strike="noStrike">
              <a:solidFill>
                <a:srgbClr val="1B273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20675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733"/>
              </a:buClr>
              <a:buSzPts val="1450"/>
              <a:buFont typeface="Calibri"/>
              <a:buChar char="●"/>
            </a:pPr>
            <a:r>
              <a:rPr b="0" i="0" lang="en-US" sz="1450" u="none" cap="none" strike="noStrike">
                <a:solidFill>
                  <a:srgbClr val="1B2733"/>
                </a:solidFill>
                <a:latin typeface="Calibri"/>
                <a:ea typeface="Calibri"/>
                <a:cs typeface="Calibri"/>
                <a:sym typeface="Calibri"/>
              </a:rPr>
              <a:t>Sin centralización de la información ni formatos estandarizados</a:t>
            </a:r>
            <a:endParaRPr b="0" i="0" sz="1450" u="none" cap="none" strike="noStrike">
              <a:solidFill>
                <a:srgbClr val="1B273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20675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733"/>
              </a:buClr>
              <a:buSzPts val="1450"/>
              <a:buFont typeface="Calibri"/>
              <a:buChar char="●"/>
            </a:pPr>
            <a:r>
              <a:rPr b="0" i="0" lang="en-US" sz="1450" u="none" cap="none" strike="noStrike">
                <a:solidFill>
                  <a:srgbClr val="1B2733"/>
                </a:solidFill>
                <a:latin typeface="Calibri"/>
                <a:ea typeface="Calibri"/>
                <a:cs typeface="Calibri"/>
                <a:sym typeface="Calibri"/>
              </a:rPr>
              <a:t>Dificultad en la organización de los datos y seguimiento de operaciones</a:t>
            </a:r>
            <a:endParaRPr b="0" i="0" sz="1450" u="none" cap="none" strike="noStrike">
              <a:solidFill>
                <a:srgbClr val="1B273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20675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733"/>
              </a:buClr>
              <a:buSzPts val="1450"/>
              <a:buFont typeface="Calibri"/>
              <a:buChar char="●"/>
            </a:pPr>
            <a:r>
              <a:rPr b="0" i="0" lang="en-US" sz="1450" u="none" cap="none" strike="noStrike">
                <a:solidFill>
                  <a:srgbClr val="1B2733"/>
                </a:solidFill>
                <a:latin typeface="Calibri"/>
                <a:ea typeface="Calibri"/>
                <a:cs typeface="Calibri"/>
                <a:sym typeface="Calibri"/>
              </a:rPr>
              <a:t>KPI´s operacionales deben calcularse manualmente</a:t>
            </a:r>
            <a:endParaRPr b="0" i="0" sz="1450" u="none" cap="none" strike="noStrike">
              <a:solidFill>
                <a:srgbClr val="1B273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3E8ED"/>
        </a:solidFill>
      </p:bgPr>
    </p:bg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3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6F8B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F6F8B"/>
                </a:solidFill>
                <a:latin typeface="Calibri"/>
                <a:ea typeface="Calibri"/>
                <a:cs typeface="Calibri"/>
                <a:sym typeface="Calibri"/>
              </a:rPr>
              <a:t>SOLUCIÓN PROPUESTA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3"/>
          <p:cNvSpPr/>
          <p:nvPr/>
        </p:nvSpPr>
        <p:spPr>
          <a:xfrm>
            <a:off x="548640" y="777243"/>
            <a:ext cx="77724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733"/>
              </a:buClr>
              <a:buSzPts val="3200"/>
              <a:buFont typeface="Cambria"/>
              <a:buNone/>
            </a:pPr>
            <a:r>
              <a:rPr b="1" i="0" lang="en-US" sz="3200" u="none" cap="none" strike="noStrike">
                <a:solidFill>
                  <a:srgbClr val="1B2733"/>
                </a:solidFill>
                <a:latin typeface="Cambria"/>
                <a:ea typeface="Cambria"/>
                <a:cs typeface="Cambria"/>
                <a:sym typeface="Cambria"/>
              </a:rPr>
              <a:t>Una plataforma web que centraliza,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733"/>
              </a:buClr>
              <a:buSzPts val="3200"/>
              <a:buFont typeface="Cambria"/>
              <a:buNone/>
            </a:pPr>
            <a:r>
              <a:rPr b="1" i="0" lang="en-US" sz="3200" u="none" cap="none" strike="noStrike">
                <a:solidFill>
                  <a:srgbClr val="1B2733"/>
                </a:solidFill>
                <a:latin typeface="Cambria"/>
                <a:ea typeface="Cambria"/>
                <a:cs typeface="Cambria"/>
                <a:sym typeface="Cambria"/>
              </a:rPr>
              <a:t>visualiza y proyecta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3"/>
          <p:cNvSpPr/>
          <p:nvPr/>
        </p:nvSpPr>
        <p:spPr>
          <a:xfrm>
            <a:off x="548640" y="1691640"/>
            <a:ext cx="1106424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B6B79"/>
              </a:buClr>
              <a:buSzPts val="1350"/>
              <a:buFont typeface="Calibri"/>
              <a:buNone/>
            </a:pPr>
            <a:r>
              <a:rPr b="0" i="1" lang="en-US" sz="1350" u="none" cap="none" strike="noStrike">
                <a:solidFill>
                  <a:srgbClr val="5B6B79"/>
                </a:solidFill>
                <a:latin typeface="Calibri"/>
                <a:ea typeface="Calibri"/>
                <a:cs typeface="Calibri"/>
                <a:sym typeface="Calibri"/>
              </a:rPr>
              <a:t>Plataforma web integral que permite a FL SEI digitalizar y centralizar la gestión de clientes, proveedores, proyectos eléctricos, insumos, mano de obra externa, compras, ventas y facturación, manteniendo un historial completo de las transacciones.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3"/>
          <p:cNvSpPr/>
          <p:nvPr/>
        </p:nvSpPr>
        <p:spPr>
          <a:xfrm>
            <a:off x="548640" y="2697480"/>
            <a:ext cx="2697480" cy="3246120"/>
          </a:xfrm>
          <a:prstGeom prst="roundRect">
            <a:avLst>
              <a:gd fmla="val 4068" name="adj"/>
            </a:avLst>
          </a:prstGeom>
          <a:solidFill>
            <a:srgbClr val="F6F8FA"/>
          </a:solidFill>
          <a:ln cap="flat" cmpd="sng" w="12700">
            <a:solidFill>
              <a:srgbClr val="E3E8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" name="Google Shape;107;p3"/>
          <p:cNvSpPr/>
          <p:nvPr/>
        </p:nvSpPr>
        <p:spPr>
          <a:xfrm>
            <a:off x="1554480" y="3017520"/>
            <a:ext cx="685800" cy="685800"/>
          </a:xfrm>
          <a:prstGeom prst="ellipse">
            <a:avLst/>
          </a:prstGeom>
          <a:solidFill>
            <a:srgbClr val="132B4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cons/database.png" id="108" name="Google Shape;108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08785" y="3171825"/>
            <a:ext cx="377190" cy="377190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3"/>
          <p:cNvSpPr/>
          <p:nvPr/>
        </p:nvSpPr>
        <p:spPr>
          <a:xfrm>
            <a:off x="731520" y="3886200"/>
            <a:ext cx="23317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32B45"/>
              </a:buClr>
              <a:buSzPts val="1450"/>
              <a:buFont typeface="Cambria"/>
              <a:buNone/>
            </a:pPr>
            <a:r>
              <a:rPr b="1" i="0" lang="en-US" sz="1650" u="none" cap="none" strike="noStrike">
                <a:solidFill>
                  <a:srgbClr val="132B45"/>
                </a:solidFill>
                <a:latin typeface="Cambria"/>
                <a:ea typeface="Cambria"/>
                <a:cs typeface="Cambria"/>
                <a:sym typeface="Cambria"/>
              </a:rPr>
              <a:t>Gestión centralizada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3"/>
          <p:cNvSpPr/>
          <p:nvPr/>
        </p:nvSpPr>
        <p:spPr>
          <a:xfrm>
            <a:off x="777240" y="4480560"/>
            <a:ext cx="2240280" cy="1325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733"/>
              </a:buClr>
              <a:buSzPts val="1100"/>
              <a:buFont typeface="Calibri"/>
              <a:buNone/>
            </a:pPr>
            <a:r>
              <a:rPr b="0" i="0" lang="en-US" sz="1300" u="none" cap="none" strike="noStrike">
                <a:solidFill>
                  <a:srgbClr val="1B2733"/>
                </a:solidFill>
                <a:latin typeface="Calibri"/>
                <a:ea typeface="Calibri"/>
                <a:cs typeface="Calibri"/>
                <a:sym typeface="Calibri"/>
              </a:rPr>
              <a:t>Clientes, proveedores, proyectos, insumos, mano de obra, compras, ventas y facturación en un solo sistema, con historial completo.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3"/>
          <p:cNvSpPr/>
          <p:nvPr/>
        </p:nvSpPr>
        <p:spPr>
          <a:xfrm>
            <a:off x="3474720" y="2697480"/>
            <a:ext cx="2697480" cy="3246120"/>
          </a:xfrm>
          <a:prstGeom prst="roundRect">
            <a:avLst>
              <a:gd fmla="val 4068" name="adj"/>
            </a:avLst>
          </a:prstGeom>
          <a:solidFill>
            <a:srgbClr val="F6F8FA"/>
          </a:solidFill>
          <a:ln cap="flat" cmpd="sng" w="12700">
            <a:solidFill>
              <a:srgbClr val="E3E8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" name="Google Shape;112;p3"/>
          <p:cNvSpPr/>
          <p:nvPr/>
        </p:nvSpPr>
        <p:spPr>
          <a:xfrm>
            <a:off x="4480560" y="3017520"/>
            <a:ext cx="685800" cy="685800"/>
          </a:xfrm>
          <a:prstGeom prst="ellipse">
            <a:avLst/>
          </a:prstGeom>
          <a:solidFill>
            <a:srgbClr val="1F6F8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cons/chart.png" id="113" name="Google Shape;113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634865" y="3171825"/>
            <a:ext cx="377190" cy="377190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3"/>
          <p:cNvSpPr/>
          <p:nvPr/>
        </p:nvSpPr>
        <p:spPr>
          <a:xfrm>
            <a:off x="3657600" y="3886200"/>
            <a:ext cx="23317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32B45"/>
              </a:buClr>
              <a:buSzPts val="1450"/>
              <a:buFont typeface="Cambria"/>
              <a:buNone/>
            </a:pPr>
            <a:r>
              <a:rPr b="1" i="0" lang="en-US" sz="1650" u="none" cap="none" strike="noStrike">
                <a:solidFill>
                  <a:srgbClr val="132B45"/>
                </a:solidFill>
                <a:latin typeface="Cambria"/>
                <a:ea typeface="Cambria"/>
                <a:cs typeface="Cambria"/>
                <a:sym typeface="Cambria"/>
              </a:rPr>
              <a:t>Dashboards dinámicos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3"/>
          <p:cNvSpPr/>
          <p:nvPr/>
        </p:nvSpPr>
        <p:spPr>
          <a:xfrm>
            <a:off x="3703320" y="4480560"/>
            <a:ext cx="2240400" cy="1326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733"/>
              </a:buClr>
              <a:buSzPts val="1100"/>
              <a:buFont typeface="Calibri"/>
              <a:buNone/>
            </a:pPr>
            <a:r>
              <a:rPr b="0" i="0" lang="en-US" sz="1300" u="none" cap="none" strike="noStrike">
                <a:solidFill>
                  <a:srgbClr val="1B2733"/>
                </a:solidFill>
                <a:latin typeface="Calibri"/>
                <a:ea typeface="Calibri"/>
                <a:cs typeface="Calibri"/>
                <a:sym typeface="Calibri"/>
              </a:rPr>
              <a:t>Visualización de operaciones y KPI´s para apoyar la toma de decisiones.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3"/>
          <p:cNvSpPr/>
          <p:nvPr/>
        </p:nvSpPr>
        <p:spPr>
          <a:xfrm>
            <a:off x="6400800" y="2697480"/>
            <a:ext cx="2697480" cy="3246120"/>
          </a:xfrm>
          <a:prstGeom prst="roundRect">
            <a:avLst>
              <a:gd fmla="val 4068" name="adj"/>
            </a:avLst>
          </a:prstGeom>
          <a:solidFill>
            <a:srgbClr val="F6F8FA"/>
          </a:solidFill>
          <a:ln cap="flat" cmpd="sng" w="12700">
            <a:solidFill>
              <a:srgbClr val="E3E8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" name="Google Shape;117;p3"/>
          <p:cNvSpPr/>
          <p:nvPr/>
        </p:nvSpPr>
        <p:spPr>
          <a:xfrm>
            <a:off x="7406640" y="3017520"/>
            <a:ext cx="685800" cy="685800"/>
          </a:xfrm>
          <a:prstGeom prst="ellipse">
            <a:avLst/>
          </a:prstGeom>
          <a:solidFill>
            <a:srgbClr val="132B4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cons/network.png" id="118" name="Google Shape;118;p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560945" y="3171825"/>
            <a:ext cx="377190" cy="377190"/>
          </a:xfrm>
          <a:prstGeom prst="rect">
            <a:avLst/>
          </a:prstGeom>
          <a:noFill/>
          <a:ln>
            <a:noFill/>
          </a:ln>
        </p:spPr>
      </p:pic>
      <p:sp>
        <p:nvSpPr>
          <p:cNvPr id="119" name="Google Shape;119;p3"/>
          <p:cNvSpPr/>
          <p:nvPr/>
        </p:nvSpPr>
        <p:spPr>
          <a:xfrm>
            <a:off x="6583680" y="3886200"/>
            <a:ext cx="23317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32B45"/>
              </a:buClr>
              <a:buSzPts val="1450"/>
              <a:buFont typeface="Cambria"/>
              <a:buNone/>
            </a:pPr>
            <a:r>
              <a:rPr b="1" i="0" lang="en-US" sz="1650" u="none" cap="none" strike="noStrike">
                <a:solidFill>
                  <a:srgbClr val="132B45"/>
                </a:solidFill>
                <a:latin typeface="Cambria"/>
                <a:ea typeface="Cambria"/>
                <a:cs typeface="Cambria"/>
                <a:sym typeface="Cambria"/>
              </a:rPr>
              <a:t>Módulo predictivo (IA)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3"/>
          <p:cNvSpPr/>
          <p:nvPr/>
        </p:nvSpPr>
        <p:spPr>
          <a:xfrm>
            <a:off x="6629400" y="4480560"/>
            <a:ext cx="2240280" cy="1325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733"/>
              </a:buClr>
              <a:buSzPts val="1100"/>
              <a:buFont typeface="Calibri"/>
              <a:buNone/>
            </a:pPr>
            <a:r>
              <a:rPr b="0" i="0" lang="en-US" sz="1300" u="none" cap="none" strike="noStrike">
                <a:solidFill>
                  <a:srgbClr val="1B2733"/>
                </a:solidFill>
                <a:latin typeface="Calibri"/>
                <a:ea typeface="Calibri"/>
                <a:cs typeface="Calibri"/>
                <a:sym typeface="Calibri"/>
              </a:rPr>
              <a:t>Modelo de Inteligencia Artificial que proyecta ganancias y utilidades futuras a partir de datos históricos.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3"/>
          <p:cNvSpPr/>
          <p:nvPr/>
        </p:nvSpPr>
        <p:spPr>
          <a:xfrm>
            <a:off x="9326880" y="2697480"/>
            <a:ext cx="2697480" cy="3246120"/>
          </a:xfrm>
          <a:prstGeom prst="roundRect">
            <a:avLst>
              <a:gd fmla="val 4068" name="adj"/>
            </a:avLst>
          </a:prstGeom>
          <a:solidFill>
            <a:srgbClr val="F6F8FA"/>
          </a:solidFill>
          <a:ln cap="flat" cmpd="sng" w="12700">
            <a:solidFill>
              <a:srgbClr val="E3E8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" name="Google Shape;122;p3"/>
          <p:cNvSpPr/>
          <p:nvPr/>
        </p:nvSpPr>
        <p:spPr>
          <a:xfrm>
            <a:off x="10332720" y="3017520"/>
            <a:ext cx="685800" cy="685800"/>
          </a:xfrm>
          <a:prstGeom prst="ellipse">
            <a:avLst/>
          </a:prstGeom>
          <a:solidFill>
            <a:srgbClr val="1F6F8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cons/shield.png" id="123" name="Google Shape;123;p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0487025" y="3171825"/>
            <a:ext cx="377190" cy="377190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3"/>
          <p:cNvSpPr/>
          <p:nvPr/>
        </p:nvSpPr>
        <p:spPr>
          <a:xfrm>
            <a:off x="9509760" y="3886200"/>
            <a:ext cx="23317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32B45"/>
              </a:buClr>
              <a:buSzPts val="1450"/>
              <a:buFont typeface="Cambria"/>
              <a:buNone/>
            </a:pPr>
            <a:r>
              <a:rPr b="1" i="0" lang="en-US" sz="1650" u="none" cap="none" strike="noStrike">
                <a:solidFill>
                  <a:srgbClr val="132B45"/>
                </a:solidFill>
                <a:latin typeface="Cambria"/>
                <a:ea typeface="Cambria"/>
                <a:cs typeface="Cambria"/>
                <a:sym typeface="Cambria"/>
              </a:rPr>
              <a:t>Usuarios, roles y notificaciones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3"/>
          <p:cNvSpPr/>
          <p:nvPr/>
        </p:nvSpPr>
        <p:spPr>
          <a:xfrm>
            <a:off x="9555480" y="4480560"/>
            <a:ext cx="2240280" cy="1325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733"/>
              </a:buClr>
              <a:buSzPts val="1100"/>
              <a:buFont typeface="Calibri"/>
              <a:buNone/>
            </a:pPr>
            <a:r>
              <a:rPr b="0" i="0" lang="en-US" sz="1300" u="none" cap="none" strike="noStrike">
                <a:solidFill>
                  <a:srgbClr val="1B2733"/>
                </a:solidFill>
                <a:latin typeface="Calibri"/>
                <a:ea typeface="Calibri"/>
                <a:cs typeface="Calibri"/>
                <a:sym typeface="Calibri"/>
              </a:rPr>
              <a:t>Sistema de accesos por rol y notificaciones automáticas de facturas pendientes de pago.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3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B6B79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B6B79"/>
                </a:solidFill>
                <a:latin typeface="Calibri"/>
                <a:ea typeface="Calibri"/>
                <a:cs typeface="Calibri"/>
                <a:sym typeface="Calibri"/>
              </a:rPr>
              <a:t>03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32B45"/>
        </a:solidFill>
      </p:bgPr>
    </p:bg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8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A900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2A900"/>
                </a:solidFill>
                <a:latin typeface="Calibri"/>
                <a:ea typeface="Calibri"/>
                <a:cs typeface="Calibri"/>
                <a:sym typeface="Calibri"/>
              </a:rPr>
              <a:t>FACTIBILIDAD DEL PROYECTO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8"/>
          <p:cNvSpPr/>
          <p:nvPr/>
        </p:nvSpPr>
        <p:spPr>
          <a:xfrm>
            <a:off x="548640" y="658368"/>
            <a:ext cx="77724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Cambria"/>
              <a:buNone/>
            </a:pPr>
            <a:r>
              <a:rPr b="1" i="0" lang="en-US" sz="32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Por qué el proyecto es factible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8"/>
          <p:cNvSpPr/>
          <p:nvPr/>
        </p:nvSpPr>
        <p:spPr>
          <a:xfrm>
            <a:off x="416165" y="1943110"/>
            <a:ext cx="2697600" cy="3931800"/>
          </a:xfrm>
          <a:prstGeom prst="roundRect">
            <a:avLst>
              <a:gd fmla="val 4068" name="adj"/>
            </a:avLst>
          </a:prstGeom>
          <a:solidFill>
            <a:srgbClr val="1C3A5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" name="Google Shape;135;p8"/>
          <p:cNvSpPr/>
          <p:nvPr/>
        </p:nvSpPr>
        <p:spPr>
          <a:xfrm>
            <a:off x="1422005" y="2263150"/>
            <a:ext cx="685800" cy="685800"/>
          </a:xfrm>
          <a:prstGeom prst="ellipse">
            <a:avLst/>
          </a:prstGeom>
          <a:solidFill>
            <a:srgbClr val="F2A9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cons/calendar.png" id="136" name="Google Shape;136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76310" y="2417455"/>
            <a:ext cx="377190" cy="377190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8"/>
          <p:cNvSpPr/>
          <p:nvPr/>
        </p:nvSpPr>
        <p:spPr>
          <a:xfrm>
            <a:off x="599045" y="3131830"/>
            <a:ext cx="23316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mbria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Tiempo disponible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" name="Google Shape;138;p8"/>
          <p:cNvSpPr/>
          <p:nvPr/>
        </p:nvSpPr>
        <p:spPr>
          <a:xfrm>
            <a:off x="644765" y="3726190"/>
            <a:ext cx="2240400" cy="1920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FE0EA"/>
              </a:buClr>
              <a:buSzPts val="1100"/>
              <a:buFont typeface="Calibri"/>
              <a:buNone/>
            </a:pPr>
            <a:r>
              <a:rPr b="0" i="0" lang="en-US" sz="13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18 semanas del semestre, distribuidas en las 3 fases de Portafolio de Título.</a:t>
            </a:r>
            <a:endParaRPr b="0" i="0" sz="13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" name="Google Shape;139;p8"/>
          <p:cNvSpPr/>
          <p:nvPr/>
        </p:nvSpPr>
        <p:spPr>
          <a:xfrm>
            <a:off x="3342245" y="1943110"/>
            <a:ext cx="2697600" cy="3931800"/>
          </a:xfrm>
          <a:prstGeom prst="roundRect">
            <a:avLst>
              <a:gd fmla="val 4068" name="adj"/>
            </a:avLst>
          </a:prstGeom>
          <a:solidFill>
            <a:srgbClr val="1C3A5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" name="Google Shape;140;p8"/>
          <p:cNvSpPr/>
          <p:nvPr/>
        </p:nvSpPr>
        <p:spPr>
          <a:xfrm>
            <a:off x="4348085" y="2263150"/>
            <a:ext cx="685800" cy="685800"/>
          </a:xfrm>
          <a:prstGeom prst="ellipse">
            <a:avLst/>
          </a:prstGeom>
          <a:solidFill>
            <a:srgbClr val="F2A9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cons/laptop.png" id="141" name="Google Shape;141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502390" y="2417455"/>
            <a:ext cx="377190" cy="377190"/>
          </a:xfrm>
          <a:prstGeom prst="rect">
            <a:avLst/>
          </a:prstGeom>
          <a:noFill/>
          <a:ln>
            <a:noFill/>
          </a:ln>
        </p:spPr>
      </p:pic>
      <p:sp>
        <p:nvSpPr>
          <p:cNvPr id="142" name="Google Shape;142;p8"/>
          <p:cNvSpPr/>
          <p:nvPr/>
        </p:nvSpPr>
        <p:spPr>
          <a:xfrm>
            <a:off x="3525125" y="3131830"/>
            <a:ext cx="23316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mbria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Recursos y herramientas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" name="Google Shape;143;p8"/>
          <p:cNvSpPr/>
          <p:nvPr/>
        </p:nvSpPr>
        <p:spPr>
          <a:xfrm>
            <a:off x="3570845" y="3726190"/>
            <a:ext cx="2240400" cy="1920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FE0EA"/>
              </a:buClr>
              <a:buSzPts val="1100"/>
              <a:buFont typeface="Calibri"/>
              <a:buNone/>
            </a:pPr>
            <a:r>
              <a:rPr b="0" i="0" lang="en-US" sz="13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Equipos propios, frameworks web, motor de base de datos y librerías de analítica predictiva.</a:t>
            </a:r>
            <a:endParaRPr b="0" i="0" sz="13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" name="Google Shape;144;p8"/>
          <p:cNvSpPr/>
          <p:nvPr/>
        </p:nvSpPr>
        <p:spPr>
          <a:xfrm>
            <a:off x="6268325" y="1943110"/>
            <a:ext cx="2697600" cy="3931800"/>
          </a:xfrm>
          <a:prstGeom prst="roundRect">
            <a:avLst>
              <a:gd fmla="val 4068" name="adj"/>
            </a:avLst>
          </a:prstGeom>
          <a:solidFill>
            <a:srgbClr val="1C3A5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" name="Google Shape;145;p8"/>
          <p:cNvSpPr/>
          <p:nvPr/>
        </p:nvSpPr>
        <p:spPr>
          <a:xfrm>
            <a:off x="7274165" y="2263150"/>
            <a:ext cx="685800" cy="685800"/>
          </a:xfrm>
          <a:prstGeom prst="ellipse">
            <a:avLst/>
          </a:prstGeom>
          <a:solidFill>
            <a:srgbClr val="F2A9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cons/heart.png" id="146" name="Google Shape;146;p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428470" y="2417455"/>
            <a:ext cx="377190" cy="377190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p8"/>
          <p:cNvSpPr/>
          <p:nvPr/>
        </p:nvSpPr>
        <p:spPr>
          <a:xfrm>
            <a:off x="6451205" y="3131830"/>
            <a:ext cx="23316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mbria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Compromiso del cliente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" name="Google Shape;148;p8"/>
          <p:cNvSpPr/>
          <p:nvPr/>
        </p:nvSpPr>
        <p:spPr>
          <a:xfrm>
            <a:off x="6496925" y="3726190"/>
            <a:ext cx="2240400" cy="1920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FE0EA"/>
              </a:buClr>
              <a:buSzPts val="1100"/>
              <a:buFont typeface="Calibri"/>
              <a:buNone/>
            </a:pPr>
            <a:r>
              <a:rPr b="0" i="0" lang="en-US" sz="13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FL SEI está disponible para entregar información y validar avances con metodología ágil.</a:t>
            </a:r>
            <a:endParaRPr b="0" i="0" sz="13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" name="Google Shape;149;p8"/>
          <p:cNvSpPr/>
          <p:nvPr/>
        </p:nvSpPr>
        <p:spPr>
          <a:xfrm>
            <a:off x="9194405" y="1943110"/>
            <a:ext cx="2697600" cy="3931800"/>
          </a:xfrm>
          <a:prstGeom prst="roundRect">
            <a:avLst>
              <a:gd fmla="val 4068" name="adj"/>
            </a:avLst>
          </a:prstGeom>
          <a:solidFill>
            <a:srgbClr val="1C3A5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0" name="Google Shape;150;p8"/>
          <p:cNvSpPr/>
          <p:nvPr/>
        </p:nvSpPr>
        <p:spPr>
          <a:xfrm>
            <a:off x="10200245" y="2263150"/>
            <a:ext cx="685800" cy="685800"/>
          </a:xfrm>
          <a:prstGeom prst="ellipse">
            <a:avLst/>
          </a:prstGeom>
          <a:solidFill>
            <a:srgbClr val="F2A9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cons/shield.png" id="151" name="Google Shape;151;p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0354550" y="2417455"/>
            <a:ext cx="377190" cy="377190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152;p8"/>
          <p:cNvSpPr/>
          <p:nvPr/>
        </p:nvSpPr>
        <p:spPr>
          <a:xfrm>
            <a:off x="9377285" y="3131830"/>
            <a:ext cx="23316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mbria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Gestión de riesgos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3" name="Google Shape;153;p8"/>
          <p:cNvSpPr/>
          <p:nvPr/>
        </p:nvSpPr>
        <p:spPr>
          <a:xfrm>
            <a:off x="9423005" y="3726190"/>
            <a:ext cx="2240400" cy="1920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FE0EA"/>
              </a:buClr>
              <a:buSzPts val="1100"/>
              <a:buFont typeface="Calibri"/>
              <a:buNone/>
            </a:pPr>
            <a:r>
              <a:rPr b="0" i="0" lang="en-US" sz="13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Posibles demoras o cambios de alcance se mitigan con reuniones periódicas y planificación iterativa.</a:t>
            </a:r>
            <a:endParaRPr b="0" i="0" sz="13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4" name="Google Shape;154;p8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B6B79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B6B79"/>
                </a:solidFill>
                <a:latin typeface="Calibri"/>
                <a:ea typeface="Calibri"/>
                <a:cs typeface="Calibri"/>
                <a:sym typeface="Calibri"/>
              </a:rPr>
              <a:t>08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3E8ED"/>
        </a:solidFill>
      </p:bgPr>
    </p:bg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9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6F8B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F6F8B"/>
                </a:solidFill>
                <a:latin typeface="Calibri"/>
                <a:ea typeface="Calibri"/>
                <a:cs typeface="Calibri"/>
                <a:sym typeface="Calibri"/>
              </a:rPr>
              <a:t>RELEVANCIA DEL PROYECTO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9"/>
          <p:cNvSpPr/>
          <p:nvPr/>
        </p:nvSpPr>
        <p:spPr>
          <a:xfrm>
            <a:off x="548640" y="704093"/>
            <a:ext cx="77724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733"/>
              </a:buClr>
              <a:buSzPts val="3200"/>
              <a:buFont typeface="Cambria"/>
              <a:buNone/>
            </a:pPr>
            <a:r>
              <a:rPr b="1" i="0" lang="en-US" sz="3200" u="none" cap="none" strike="noStrike">
                <a:solidFill>
                  <a:srgbClr val="1B2733"/>
                </a:solidFill>
                <a:latin typeface="Cambria"/>
                <a:ea typeface="Cambria"/>
                <a:cs typeface="Cambria"/>
                <a:sym typeface="Cambria"/>
              </a:rPr>
              <a:t>Un proyecto alineado con nuestros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733"/>
              </a:buClr>
              <a:buSzPts val="3200"/>
              <a:buFont typeface="Cambria"/>
              <a:buNone/>
            </a:pPr>
            <a:r>
              <a:rPr b="1" i="0" lang="en-US" sz="3200" u="none" cap="none" strike="noStrike">
                <a:solidFill>
                  <a:srgbClr val="1B2733"/>
                </a:solidFill>
                <a:latin typeface="Cambria"/>
                <a:ea typeface="Cambria"/>
                <a:cs typeface="Cambria"/>
                <a:sym typeface="Cambria"/>
              </a:rPr>
              <a:t>intereses y competencias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9"/>
          <p:cNvSpPr/>
          <p:nvPr/>
        </p:nvSpPr>
        <p:spPr>
          <a:xfrm>
            <a:off x="548640" y="1783080"/>
            <a:ext cx="5394960" cy="4251960"/>
          </a:xfrm>
          <a:prstGeom prst="roundRect">
            <a:avLst>
              <a:gd fmla="val 2581" name="adj"/>
            </a:avLst>
          </a:prstGeom>
          <a:solidFill>
            <a:srgbClr val="F6F8FA"/>
          </a:solidFill>
          <a:ln cap="flat" cmpd="sng" w="12700">
            <a:solidFill>
              <a:srgbClr val="E3E8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3" name="Google Shape;163;p9"/>
          <p:cNvSpPr/>
          <p:nvPr/>
        </p:nvSpPr>
        <p:spPr>
          <a:xfrm>
            <a:off x="822960" y="2011680"/>
            <a:ext cx="548640" cy="548640"/>
          </a:xfrm>
          <a:prstGeom prst="ellipse">
            <a:avLst/>
          </a:prstGeom>
          <a:solidFill>
            <a:srgbClr val="132B4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cons/heart.png" id="164" name="Google Shape;164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46404" y="2135124"/>
            <a:ext cx="301752" cy="301752"/>
          </a:xfrm>
          <a:prstGeom prst="rect">
            <a:avLst/>
          </a:prstGeom>
          <a:noFill/>
          <a:ln>
            <a:noFill/>
          </a:ln>
        </p:spPr>
      </p:pic>
      <p:sp>
        <p:nvSpPr>
          <p:cNvPr id="165" name="Google Shape;165;p9"/>
          <p:cNvSpPr/>
          <p:nvPr/>
        </p:nvSpPr>
        <p:spPr>
          <a:xfrm>
            <a:off x="1508760" y="2084832"/>
            <a:ext cx="42976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32B45"/>
              </a:buClr>
              <a:buSzPts val="1500"/>
              <a:buFont typeface="Cambria"/>
              <a:buNone/>
            </a:pPr>
            <a:r>
              <a:rPr b="1" i="0" lang="en-US" sz="1500" u="none" cap="none" strike="noStrike">
                <a:solidFill>
                  <a:srgbClr val="132B45"/>
                </a:solidFill>
                <a:latin typeface="Cambria"/>
                <a:ea typeface="Cambria"/>
                <a:cs typeface="Cambria"/>
                <a:sym typeface="Cambria"/>
              </a:rPr>
              <a:t>Intereses profesionales del equipo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9"/>
          <p:cNvSpPr/>
          <p:nvPr/>
        </p:nvSpPr>
        <p:spPr>
          <a:xfrm>
            <a:off x="822960" y="2743200"/>
            <a:ext cx="4846320" cy="8686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733"/>
              </a:buClr>
              <a:buSzPts val="1250"/>
              <a:buFont typeface="Calibri"/>
              <a:buNone/>
            </a:pPr>
            <a:r>
              <a:rPr b="0" i="0" lang="en-US" sz="1450" u="none" cap="none" strike="noStrike">
                <a:solidFill>
                  <a:srgbClr val="1B2733"/>
                </a:solidFill>
                <a:latin typeface="Calibri"/>
                <a:ea typeface="Calibri"/>
                <a:cs typeface="Calibri"/>
                <a:sym typeface="Calibri"/>
              </a:rPr>
              <a:t>El equipo tiene interés en el desarrollo de software full-stack, la gestión de bases de datos y la aplicación de ciencia de datos a problemas de negocio reales.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67" name="Google Shape;167;p9"/>
          <p:cNvCxnSpPr/>
          <p:nvPr/>
        </p:nvCxnSpPr>
        <p:spPr>
          <a:xfrm>
            <a:off x="822960" y="3909058"/>
            <a:ext cx="4846200" cy="0"/>
          </a:xfrm>
          <a:prstGeom prst="straightConnector1">
            <a:avLst/>
          </a:prstGeom>
          <a:noFill/>
          <a:ln cap="flat" cmpd="sng" w="12700">
            <a:solidFill>
              <a:srgbClr val="E3E8ED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68" name="Google Shape;168;p9"/>
          <p:cNvSpPr/>
          <p:nvPr/>
        </p:nvSpPr>
        <p:spPr>
          <a:xfrm>
            <a:off x="822950" y="4239126"/>
            <a:ext cx="4846200" cy="165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733"/>
              </a:buClr>
              <a:buSzPts val="1250"/>
              <a:buFont typeface="Calibri"/>
              <a:buNone/>
            </a:pPr>
            <a:r>
              <a:rPr b="0" i="0" lang="en-US" sz="1450" u="none" cap="none" strike="noStrike">
                <a:solidFill>
                  <a:srgbClr val="1B2733"/>
                </a:solidFill>
                <a:latin typeface="Calibri"/>
                <a:ea typeface="Calibri"/>
                <a:cs typeface="Calibri"/>
                <a:sym typeface="Calibri"/>
              </a:rPr>
              <a:t>Este Proyecto APT permite aplicar dichos intereses en un caso concreto, integrando desarrollo web, modelado de datos y analítica predictiva, contribuyendo al desarrollo profesional del equipo frente a un desafío real del mundo laboral.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9"/>
          <p:cNvSpPr/>
          <p:nvPr/>
        </p:nvSpPr>
        <p:spPr>
          <a:xfrm>
            <a:off x="6217920" y="1783080"/>
            <a:ext cx="5394960" cy="4251960"/>
          </a:xfrm>
          <a:prstGeom prst="roundRect">
            <a:avLst>
              <a:gd fmla="val 2581" name="adj"/>
            </a:avLst>
          </a:prstGeom>
          <a:solidFill>
            <a:srgbClr val="132B4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0" name="Google Shape;170;p9"/>
          <p:cNvSpPr/>
          <p:nvPr/>
        </p:nvSpPr>
        <p:spPr>
          <a:xfrm>
            <a:off x="6492240" y="2011680"/>
            <a:ext cx="548640" cy="548640"/>
          </a:xfrm>
          <a:prstGeom prst="ellipse">
            <a:avLst/>
          </a:prstGeom>
          <a:solidFill>
            <a:srgbClr val="F2A9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cons/goal.png" id="171" name="Google Shape;171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615684" y="2135124"/>
            <a:ext cx="301752" cy="301752"/>
          </a:xfrm>
          <a:prstGeom prst="rect">
            <a:avLst/>
          </a:prstGeom>
          <a:noFill/>
          <a:ln>
            <a:noFill/>
          </a:ln>
        </p:spPr>
      </p:pic>
      <p:sp>
        <p:nvSpPr>
          <p:cNvPr id="172" name="Google Shape;172;p9"/>
          <p:cNvSpPr/>
          <p:nvPr/>
        </p:nvSpPr>
        <p:spPr>
          <a:xfrm>
            <a:off x="7178040" y="2084832"/>
            <a:ext cx="42976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mbria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Pertinencia con el perfil de egreso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9"/>
          <p:cNvSpPr/>
          <p:nvPr/>
        </p:nvSpPr>
        <p:spPr>
          <a:xfrm>
            <a:off x="6492240" y="2743200"/>
            <a:ext cx="4846320" cy="12344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FE0EA"/>
              </a:buClr>
              <a:buSzPts val="1200"/>
              <a:buFont typeface="Calibri"/>
              <a:buNone/>
            </a:pPr>
            <a:r>
              <a:rPr b="0" i="0" lang="en-US" sz="1400" u="none" cap="none" strike="noStrike">
                <a:solidFill>
                  <a:srgbClr val="CFE0EA"/>
                </a:solidFill>
                <a:latin typeface="Calibri"/>
                <a:ea typeface="Calibri"/>
                <a:cs typeface="Calibri"/>
                <a:sym typeface="Calibri"/>
              </a:rPr>
              <a:t>El proyecto exige levantar y analizar requerimientos con un cliente real, diseñar y modelar una base de datos relacional, desarrollar el software (frontend, backend e integración de analítica predictiva) y desplegar la solución en producción — competencias centrales de Ingeniería Informática: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9"/>
          <p:cNvSpPr/>
          <p:nvPr/>
        </p:nvSpPr>
        <p:spPr>
          <a:xfrm>
            <a:off x="6492240" y="4160520"/>
            <a:ext cx="128016" cy="128016"/>
          </a:xfrm>
          <a:prstGeom prst="ellipse">
            <a:avLst/>
          </a:prstGeom>
          <a:solidFill>
            <a:srgbClr val="F2A9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5" name="Google Shape;175;p9"/>
          <p:cNvSpPr/>
          <p:nvPr/>
        </p:nvSpPr>
        <p:spPr>
          <a:xfrm>
            <a:off x="6748272" y="4041648"/>
            <a:ext cx="44805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0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Análisis y levantamiento de requerimientos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9"/>
          <p:cNvSpPr/>
          <p:nvPr/>
        </p:nvSpPr>
        <p:spPr>
          <a:xfrm>
            <a:off x="6492240" y="4544568"/>
            <a:ext cx="128016" cy="128016"/>
          </a:xfrm>
          <a:prstGeom prst="ellipse">
            <a:avLst/>
          </a:prstGeom>
          <a:solidFill>
            <a:srgbClr val="F2A9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7" name="Google Shape;177;p9"/>
          <p:cNvSpPr/>
          <p:nvPr/>
        </p:nvSpPr>
        <p:spPr>
          <a:xfrm>
            <a:off x="6748272" y="4425696"/>
            <a:ext cx="44805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0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Desarrollo y construcción de software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9"/>
          <p:cNvSpPr/>
          <p:nvPr/>
        </p:nvSpPr>
        <p:spPr>
          <a:xfrm>
            <a:off x="6492240" y="4928616"/>
            <a:ext cx="128016" cy="128016"/>
          </a:xfrm>
          <a:prstGeom prst="ellipse">
            <a:avLst/>
          </a:prstGeom>
          <a:solidFill>
            <a:srgbClr val="F2A9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9" name="Google Shape;179;p9"/>
          <p:cNvSpPr/>
          <p:nvPr/>
        </p:nvSpPr>
        <p:spPr>
          <a:xfrm>
            <a:off x="6748272" y="4809744"/>
            <a:ext cx="44805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0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Gestión y modelo de base de datos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9"/>
          <p:cNvSpPr/>
          <p:nvPr/>
        </p:nvSpPr>
        <p:spPr>
          <a:xfrm>
            <a:off x="6492240" y="5312664"/>
            <a:ext cx="128016" cy="128016"/>
          </a:xfrm>
          <a:prstGeom prst="ellipse">
            <a:avLst/>
          </a:prstGeom>
          <a:solidFill>
            <a:srgbClr val="F2A9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1" name="Google Shape;181;p9"/>
          <p:cNvSpPr/>
          <p:nvPr/>
        </p:nvSpPr>
        <p:spPr>
          <a:xfrm>
            <a:off x="6748272" y="5193792"/>
            <a:ext cx="44805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0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Despliegue e integración de soluciones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9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B6B79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B6B79"/>
                </a:solidFill>
                <a:latin typeface="Calibri"/>
                <a:ea typeface="Calibri"/>
                <a:cs typeface="Calibri"/>
                <a:sym typeface="Calibri"/>
              </a:rPr>
              <a:t>09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3E8ED"/>
        </a:solidFill>
      </p:bgPr>
    </p:bg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4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6F8B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F6F8B"/>
                </a:solidFill>
                <a:latin typeface="Calibri"/>
                <a:ea typeface="Calibri"/>
                <a:cs typeface="Calibri"/>
                <a:sym typeface="Calibri"/>
              </a:rPr>
              <a:t>OBJETIVOS DEL PROYECTO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4"/>
          <p:cNvSpPr/>
          <p:nvPr/>
        </p:nvSpPr>
        <p:spPr>
          <a:xfrm>
            <a:off x="548653" y="547468"/>
            <a:ext cx="77724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733"/>
              </a:buClr>
              <a:buSzPts val="3200"/>
              <a:buFont typeface="Cambria"/>
              <a:buNone/>
            </a:pPr>
            <a:r>
              <a:rPr b="1" i="0" lang="en-US" sz="3200" u="none" cap="none" strike="noStrike">
                <a:solidFill>
                  <a:srgbClr val="1B2733"/>
                </a:solidFill>
                <a:latin typeface="Cambria"/>
                <a:ea typeface="Cambria"/>
                <a:cs typeface="Cambria"/>
                <a:sym typeface="Cambria"/>
              </a:rPr>
              <a:t>Qué buscamos lograr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4"/>
          <p:cNvSpPr/>
          <p:nvPr/>
        </p:nvSpPr>
        <p:spPr>
          <a:xfrm>
            <a:off x="563853" y="1233890"/>
            <a:ext cx="11064300" cy="1051500"/>
          </a:xfrm>
          <a:prstGeom prst="roundRect">
            <a:avLst>
              <a:gd fmla="val 10435" name="adj"/>
            </a:avLst>
          </a:prstGeom>
          <a:solidFill>
            <a:srgbClr val="132B4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1" name="Google Shape;191;p4"/>
          <p:cNvSpPr/>
          <p:nvPr/>
        </p:nvSpPr>
        <p:spPr>
          <a:xfrm>
            <a:off x="838173" y="1444202"/>
            <a:ext cx="640200" cy="640200"/>
          </a:xfrm>
          <a:prstGeom prst="ellipse">
            <a:avLst/>
          </a:prstGeom>
          <a:solidFill>
            <a:srgbClr val="F2A9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cons/goal.png" id="192" name="Google Shape;192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82191" y="1588220"/>
            <a:ext cx="352044" cy="352044"/>
          </a:xfrm>
          <a:prstGeom prst="rect">
            <a:avLst/>
          </a:prstGeom>
          <a:noFill/>
          <a:ln>
            <a:noFill/>
          </a:ln>
        </p:spPr>
      </p:pic>
      <p:sp>
        <p:nvSpPr>
          <p:cNvPr id="193" name="Google Shape;193;p4"/>
          <p:cNvSpPr/>
          <p:nvPr/>
        </p:nvSpPr>
        <p:spPr>
          <a:xfrm>
            <a:off x="1564113" y="1371050"/>
            <a:ext cx="10006800" cy="82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A900"/>
              </a:buClr>
              <a:buSzPts val="1250"/>
              <a:buFont typeface="Calibri"/>
              <a:buNone/>
            </a:pPr>
            <a:r>
              <a:rPr b="1" i="0" lang="en-US" sz="1450" u="none" cap="none" strike="noStrike">
                <a:solidFill>
                  <a:srgbClr val="F2A900"/>
                </a:solidFill>
                <a:latin typeface="Calibri"/>
                <a:ea typeface="Calibri"/>
                <a:cs typeface="Calibri"/>
                <a:sym typeface="Calibri"/>
              </a:rPr>
              <a:t>Objetivo general</a:t>
            </a:r>
            <a:br>
              <a:rPr b="1" i="0" lang="en-US" sz="1450" u="none" cap="none" strike="noStrike">
                <a:solidFill>
                  <a:srgbClr val="F2A90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450" u="none" cap="none" strike="noStrike">
                <a:solidFill>
                  <a:srgbClr val="F2A900"/>
                </a:solidFill>
                <a:latin typeface="Calibri"/>
                <a:ea typeface="Calibri"/>
                <a:cs typeface="Calibri"/>
                <a:sym typeface="Calibri"/>
              </a:rPr>
              <a:t>Desarrollar una Plataforma web para la empresa FL Soluciones Electricas Integrales SpA.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4"/>
          <p:cNvSpPr/>
          <p:nvPr/>
        </p:nvSpPr>
        <p:spPr>
          <a:xfrm>
            <a:off x="691690" y="2580430"/>
            <a:ext cx="54864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32B45"/>
              </a:buClr>
              <a:buSzPts val="1600"/>
              <a:buFont typeface="Cambria"/>
              <a:buNone/>
            </a:pPr>
            <a:r>
              <a:rPr b="1" i="0" lang="en-US" sz="1600" u="none" cap="none" strike="noStrike">
                <a:solidFill>
                  <a:srgbClr val="132B45"/>
                </a:solidFill>
                <a:latin typeface="Cambria"/>
                <a:ea typeface="Cambria"/>
                <a:cs typeface="Cambria"/>
                <a:sym typeface="Cambria"/>
              </a:rPr>
              <a:t>Objetivos específicos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4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B6B79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B6B79"/>
                </a:solidFill>
                <a:latin typeface="Calibri"/>
                <a:ea typeface="Calibri"/>
                <a:cs typeface="Calibri"/>
                <a:sym typeface="Calibri"/>
              </a:rPr>
              <a:t>04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96" name="Google Shape;196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583501" y="2412731"/>
            <a:ext cx="1436740" cy="1524609"/>
          </a:xfrm>
          <a:prstGeom prst="rect">
            <a:avLst/>
          </a:prstGeom>
          <a:noFill/>
          <a:ln>
            <a:noFill/>
          </a:ln>
        </p:spPr>
      </p:pic>
      <p:sp>
        <p:nvSpPr>
          <p:cNvPr id="197" name="Google Shape;197;p4"/>
          <p:cNvSpPr/>
          <p:nvPr/>
        </p:nvSpPr>
        <p:spPr>
          <a:xfrm>
            <a:off x="838173" y="3409552"/>
            <a:ext cx="2807205" cy="2716039"/>
          </a:xfrm>
          <a:prstGeom prst="ellipse">
            <a:avLst/>
          </a:prstGeom>
          <a:solidFill>
            <a:schemeClr val="accent1"/>
          </a:solidFill>
          <a:ln cap="flat" cmpd="sng" w="25400">
            <a:solidFill>
              <a:srgbClr val="1B386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8" name="Google Shape;198;p4"/>
          <p:cNvSpPr/>
          <p:nvPr/>
        </p:nvSpPr>
        <p:spPr>
          <a:xfrm>
            <a:off x="7863840" y="3429000"/>
            <a:ext cx="2807205" cy="2716039"/>
          </a:xfrm>
          <a:prstGeom prst="ellipse">
            <a:avLst/>
          </a:prstGeom>
          <a:solidFill>
            <a:schemeClr val="accent1"/>
          </a:solidFill>
          <a:ln cap="flat" cmpd="sng" w="25400">
            <a:solidFill>
              <a:srgbClr val="1B386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9" name="Google Shape;199;p4"/>
          <p:cNvSpPr/>
          <p:nvPr/>
        </p:nvSpPr>
        <p:spPr>
          <a:xfrm>
            <a:off x="4351006" y="3429000"/>
            <a:ext cx="2807205" cy="2716039"/>
          </a:xfrm>
          <a:prstGeom prst="ellipse">
            <a:avLst/>
          </a:prstGeom>
          <a:solidFill>
            <a:schemeClr val="accent1"/>
          </a:solidFill>
          <a:ln cap="flat" cmpd="sng" w="25400">
            <a:solidFill>
              <a:srgbClr val="1B386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0" name="Google Shape;200;p4"/>
          <p:cNvSpPr txBox="1"/>
          <p:nvPr/>
        </p:nvSpPr>
        <p:spPr>
          <a:xfrm>
            <a:off x="993795" y="3937340"/>
            <a:ext cx="2440487" cy="12003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Objetivo 1: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Levantar requerimientos con la Empresa</a:t>
            </a:r>
            <a:endParaRPr/>
          </a:p>
        </p:txBody>
      </p:sp>
      <p:sp>
        <p:nvSpPr>
          <p:cNvPr id="201" name="Google Shape;201;p4"/>
          <p:cNvSpPr txBox="1"/>
          <p:nvPr/>
        </p:nvSpPr>
        <p:spPr>
          <a:xfrm>
            <a:off x="4496929" y="4089740"/>
            <a:ext cx="2440487" cy="12003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Objetivo 2: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Diseñar y desarrollar la plataforma y base de datos</a:t>
            </a:r>
            <a:endParaRPr/>
          </a:p>
        </p:txBody>
      </p:sp>
      <p:sp>
        <p:nvSpPr>
          <p:cNvPr id="202" name="Google Shape;202;p4"/>
          <p:cNvSpPr txBox="1"/>
          <p:nvPr/>
        </p:nvSpPr>
        <p:spPr>
          <a:xfrm>
            <a:off x="8009763" y="4089739"/>
            <a:ext cx="2440487" cy="12003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Objetivo 3: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Desarrollar modulo de IA predictivo de ganancias y utilidades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3E8ED"/>
        </a:solidFill>
      </p:bgPr>
    </p:bg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5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6F8B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F6F8B"/>
                </a:solidFill>
                <a:latin typeface="Calibri"/>
                <a:ea typeface="Calibri"/>
                <a:cs typeface="Calibri"/>
                <a:sym typeface="Calibri"/>
              </a:rPr>
              <a:t>EQUIPO DE TRABAJO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5"/>
          <p:cNvSpPr/>
          <p:nvPr/>
        </p:nvSpPr>
        <p:spPr>
          <a:xfrm>
            <a:off x="548652" y="658375"/>
            <a:ext cx="93258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733"/>
              </a:buClr>
              <a:buSzPts val="3200"/>
              <a:buFont typeface="Cambria"/>
              <a:buNone/>
            </a:pPr>
            <a:r>
              <a:rPr b="1" i="0" lang="en-US" sz="3200" u="none" cap="none" strike="noStrike">
                <a:solidFill>
                  <a:srgbClr val="1B2733"/>
                </a:solidFill>
                <a:latin typeface="Cambria"/>
                <a:ea typeface="Cambria"/>
                <a:cs typeface="Cambria"/>
                <a:sym typeface="Cambria"/>
              </a:rPr>
              <a:t>Responsabilidades del equipo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5"/>
          <p:cNvSpPr/>
          <p:nvPr/>
        </p:nvSpPr>
        <p:spPr>
          <a:xfrm>
            <a:off x="548640" y="2057400"/>
            <a:ext cx="3611880" cy="4023360"/>
          </a:xfrm>
          <a:prstGeom prst="roundRect">
            <a:avLst>
              <a:gd fmla="val 3038" name="adj"/>
            </a:avLst>
          </a:prstGeom>
          <a:solidFill>
            <a:srgbClr val="F6F8FA"/>
          </a:solidFill>
          <a:ln cap="flat" cmpd="sng" w="12700">
            <a:solidFill>
              <a:srgbClr val="E3E8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1" name="Google Shape;211;p5"/>
          <p:cNvSpPr/>
          <p:nvPr/>
        </p:nvSpPr>
        <p:spPr>
          <a:xfrm>
            <a:off x="548640" y="2057400"/>
            <a:ext cx="3611880" cy="1051560"/>
          </a:xfrm>
          <a:prstGeom prst="roundRect">
            <a:avLst>
              <a:gd fmla="val 10435" name="adj"/>
            </a:avLst>
          </a:prstGeom>
          <a:solidFill>
            <a:srgbClr val="132B4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2" name="Google Shape;212;p5"/>
          <p:cNvSpPr/>
          <p:nvPr/>
        </p:nvSpPr>
        <p:spPr>
          <a:xfrm>
            <a:off x="548640" y="2606040"/>
            <a:ext cx="3611880" cy="502920"/>
          </a:xfrm>
          <a:prstGeom prst="rect">
            <a:avLst/>
          </a:prstGeom>
          <a:solidFill>
            <a:srgbClr val="132B4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3" name="Google Shape;213;p5"/>
          <p:cNvSpPr/>
          <p:nvPr/>
        </p:nvSpPr>
        <p:spPr>
          <a:xfrm>
            <a:off x="804672" y="2313432"/>
            <a:ext cx="548640" cy="548640"/>
          </a:xfrm>
          <a:prstGeom prst="ellipse">
            <a:avLst/>
          </a:prstGeom>
          <a:solidFill>
            <a:srgbClr val="F2A9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cons/database.png" id="214" name="Google Shape;214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28116" y="2436876"/>
            <a:ext cx="301752" cy="301752"/>
          </a:xfrm>
          <a:prstGeom prst="rect">
            <a:avLst/>
          </a:prstGeom>
          <a:noFill/>
          <a:ln>
            <a:noFill/>
          </a:ln>
        </p:spPr>
      </p:pic>
      <p:sp>
        <p:nvSpPr>
          <p:cNvPr id="215" name="Google Shape;215;p5"/>
          <p:cNvSpPr/>
          <p:nvPr/>
        </p:nvSpPr>
        <p:spPr>
          <a:xfrm>
            <a:off x="1508760" y="2221992"/>
            <a:ext cx="2514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50"/>
              <a:buFont typeface="Cambria"/>
              <a:buNone/>
            </a:pPr>
            <a:r>
              <a:rPr b="1" i="0" lang="en-US" sz="185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Moisés Roa</a:t>
            </a:r>
            <a:endParaRPr b="0" i="0" sz="1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5"/>
          <p:cNvSpPr/>
          <p:nvPr/>
        </p:nvSpPr>
        <p:spPr>
          <a:xfrm>
            <a:off x="1508760" y="2587752"/>
            <a:ext cx="2514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FE0EA"/>
              </a:buClr>
              <a:buSzPts val="1100"/>
              <a:buFont typeface="Calibri"/>
              <a:buNone/>
            </a:pPr>
            <a:r>
              <a:rPr b="0" i="0" lang="en-US" sz="1400" u="none" cap="none" strike="noStrike">
                <a:solidFill>
                  <a:srgbClr val="CFE0EA"/>
                </a:solidFill>
                <a:latin typeface="Calibri"/>
                <a:ea typeface="Calibri"/>
                <a:cs typeface="Calibri"/>
                <a:sym typeface="Calibri"/>
              </a:rPr>
              <a:t>Base de Datos &amp; Backend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5"/>
          <p:cNvSpPr/>
          <p:nvPr/>
        </p:nvSpPr>
        <p:spPr>
          <a:xfrm>
            <a:off x="804672" y="3438144"/>
            <a:ext cx="118872" cy="118872"/>
          </a:xfrm>
          <a:prstGeom prst="ellipse">
            <a:avLst/>
          </a:prstGeom>
          <a:solidFill>
            <a:srgbClr val="1F6F8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8" name="Google Shape;218;p5"/>
          <p:cNvSpPr/>
          <p:nvPr/>
        </p:nvSpPr>
        <p:spPr>
          <a:xfrm>
            <a:off x="1051560" y="3328416"/>
            <a:ext cx="2834640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733"/>
              </a:buClr>
              <a:buSzPts val="1150"/>
              <a:buFont typeface="Calibri"/>
              <a:buNone/>
            </a:pPr>
            <a:r>
              <a:rPr b="0" i="0" lang="en-US" sz="1450" u="none" cap="none" strike="noStrike">
                <a:solidFill>
                  <a:srgbClr val="1B2733"/>
                </a:solidFill>
                <a:latin typeface="Calibri"/>
                <a:ea typeface="Calibri"/>
                <a:cs typeface="Calibri"/>
                <a:sym typeface="Calibri"/>
              </a:rPr>
              <a:t>Diseño y modelado de la base de datos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5"/>
          <p:cNvSpPr/>
          <p:nvPr/>
        </p:nvSpPr>
        <p:spPr>
          <a:xfrm>
            <a:off x="804672" y="4306824"/>
            <a:ext cx="118872" cy="118872"/>
          </a:xfrm>
          <a:prstGeom prst="ellipse">
            <a:avLst/>
          </a:prstGeom>
          <a:solidFill>
            <a:srgbClr val="1F6F8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0" name="Google Shape;220;p5"/>
          <p:cNvSpPr/>
          <p:nvPr/>
        </p:nvSpPr>
        <p:spPr>
          <a:xfrm>
            <a:off x="1051560" y="4197096"/>
            <a:ext cx="2834640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733"/>
              </a:buClr>
              <a:buSzPts val="1150"/>
              <a:buFont typeface="Calibri"/>
              <a:buNone/>
            </a:pPr>
            <a:r>
              <a:rPr b="0" i="0" lang="en-US" sz="1450" u="none" cap="none" strike="noStrike">
                <a:solidFill>
                  <a:srgbClr val="1B2733"/>
                </a:solidFill>
                <a:latin typeface="Calibri"/>
                <a:ea typeface="Calibri"/>
                <a:cs typeface="Calibri"/>
                <a:sym typeface="Calibri"/>
              </a:rPr>
              <a:t>Lógica de negocio, servicios y APIs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5"/>
          <p:cNvSpPr/>
          <p:nvPr/>
        </p:nvSpPr>
        <p:spPr>
          <a:xfrm>
            <a:off x="804672" y="5175504"/>
            <a:ext cx="118872" cy="118872"/>
          </a:xfrm>
          <a:prstGeom prst="ellipse">
            <a:avLst/>
          </a:prstGeom>
          <a:solidFill>
            <a:srgbClr val="1F6F8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2" name="Google Shape;222;p5"/>
          <p:cNvSpPr/>
          <p:nvPr/>
        </p:nvSpPr>
        <p:spPr>
          <a:xfrm>
            <a:off x="1051560" y="5065776"/>
            <a:ext cx="2834640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733"/>
              </a:buClr>
              <a:buSzPts val="1150"/>
              <a:buFont typeface="Calibri"/>
              <a:buNone/>
            </a:pPr>
            <a:r>
              <a:rPr b="0" i="0" lang="en-US" sz="1450" u="none" cap="none" strike="noStrike">
                <a:solidFill>
                  <a:srgbClr val="1B2733"/>
                </a:solidFill>
                <a:latin typeface="Calibri"/>
                <a:ea typeface="Calibri"/>
                <a:cs typeface="Calibri"/>
                <a:sym typeface="Calibri"/>
              </a:rPr>
              <a:t>Integración con fuentes externas de datos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5"/>
          <p:cNvSpPr/>
          <p:nvPr/>
        </p:nvSpPr>
        <p:spPr>
          <a:xfrm>
            <a:off x="4343400" y="2057400"/>
            <a:ext cx="3611880" cy="4023360"/>
          </a:xfrm>
          <a:prstGeom prst="roundRect">
            <a:avLst>
              <a:gd fmla="val 3038" name="adj"/>
            </a:avLst>
          </a:prstGeom>
          <a:solidFill>
            <a:srgbClr val="F6F8FA"/>
          </a:solidFill>
          <a:ln cap="flat" cmpd="sng" w="12700">
            <a:solidFill>
              <a:srgbClr val="E3E8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4" name="Google Shape;224;p5"/>
          <p:cNvSpPr/>
          <p:nvPr/>
        </p:nvSpPr>
        <p:spPr>
          <a:xfrm>
            <a:off x="4343400" y="2057400"/>
            <a:ext cx="3611880" cy="1051560"/>
          </a:xfrm>
          <a:prstGeom prst="roundRect">
            <a:avLst>
              <a:gd fmla="val 10435" name="adj"/>
            </a:avLst>
          </a:prstGeom>
          <a:solidFill>
            <a:srgbClr val="132B4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5" name="Google Shape;225;p5"/>
          <p:cNvSpPr/>
          <p:nvPr/>
        </p:nvSpPr>
        <p:spPr>
          <a:xfrm>
            <a:off x="4343400" y="2606040"/>
            <a:ext cx="3611880" cy="502920"/>
          </a:xfrm>
          <a:prstGeom prst="rect">
            <a:avLst/>
          </a:prstGeom>
          <a:solidFill>
            <a:srgbClr val="132B4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6" name="Google Shape;226;p5"/>
          <p:cNvSpPr/>
          <p:nvPr/>
        </p:nvSpPr>
        <p:spPr>
          <a:xfrm>
            <a:off x="4599432" y="2313432"/>
            <a:ext cx="548640" cy="548640"/>
          </a:xfrm>
          <a:prstGeom prst="ellipse">
            <a:avLst/>
          </a:prstGeom>
          <a:solidFill>
            <a:srgbClr val="1F6F8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cons/code.png" id="227" name="Google Shape;227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722876" y="2436876"/>
            <a:ext cx="301752" cy="301752"/>
          </a:xfrm>
          <a:prstGeom prst="rect">
            <a:avLst/>
          </a:prstGeom>
          <a:noFill/>
          <a:ln>
            <a:noFill/>
          </a:ln>
        </p:spPr>
      </p:pic>
      <p:sp>
        <p:nvSpPr>
          <p:cNvPr id="228" name="Google Shape;228;p5"/>
          <p:cNvSpPr/>
          <p:nvPr/>
        </p:nvSpPr>
        <p:spPr>
          <a:xfrm>
            <a:off x="5303520" y="2221992"/>
            <a:ext cx="2514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50"/>
              <a:buFont typeface="Cambria"/>
              <a:buNone/>
            </a:pPr>
            <a:r>
              <a:rPr b="1" i="0" lang="en-US" sz="185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Tomás Vega</a:t>
            </a:r>
            <a:endParaRPr b="0" i="0" sz="1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5"/>
          <p:cNvSpPr/>
          <p:nvPr/>
        </p:nvSpPr>
        <p:spPr>
          <a:xfrm>
            <a:off x="5303520" y="2587752"/>
            <a:ext cx="2514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FE0EA"/>
              </a:buClr>
              <a:buSzPts val="1100"/>
              <a:buFont typeface="Calibri"/>
              <a:buNone/>
            </a:pPr>
            <a:r>
              <a:rPr b="0" i="0" lang="en-US" sz="1400" u="none" cap="none" strike="noStrike">
                <a:solidFill>
                  <a:srgbClr val="CFE0EA"/>
                </a:solidFill>
                <a:latin typeface="Calibri"/>
                <a:ea typeface="Calibri"/>
                <a:cs typeface="Calibri"/>
                <a:sym typeface="Calibri"/>
              </a:rPr>
              <a:t>Frontend &amp; Calidad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5"/>
          <p:cNvSpPr/>
          <p:nvPr/>
        </p:nvSpPr>
        <p:spPr>
          <a:xfrm>
            <a:off x="4599432" y="3438144"/>
            <a:ext cx="118872" cy="118872"/>
          </a:xfrm>
          <a:prstGeom prst="ellipse">
            <a:avLst/>
          </a:prstGeom>
          <a:solidFill>
            <a:srgbClr val="1F6F8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1" name="Google Shape;231;p5"/>
          <p:cNvSpPr/>
          <p:nvPr/>
        </p:nvSpPr>
        <p:spPr>
          <a:xfrm>
            <a:off x="4846320" y="3328416"/>
            <a:ext cx="2834640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733"/>
              </a:buClr>
              <a:buSzPts val="1150"/>
              <a:buFont typeface="Calibri"/>
              <a:buNone/>
            </a:pPr>
            <a:r>
              <a:rPr b="0" i="0" lang="en-US" sz="1450" u="none" cap="none" strike="noStrike">
                <a:solidFill>
                  <a:srgbClr val="1B2733"/>
                </a:solidFill>
                <a:latin typeface="Calibri"/>
                <a:ea typeface="Calibri"/>
                <a:cs typeface="Calibri"/>
                <a:sym typeface="Calibri"/>
              </a:rPr>
              <a:t>Construcción de la interfaz web y dashboards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5"/>
          <p:cNvSpPr/>
          <p:nvPr/>
        </p:nvSpPr>
        <p:spPr>
          <a:xfrm>
            <a:off x="4599432" y="4306824"/>
            <a:ext cx="118872" cy="118872"/>
          </a:xfrm>
          <a:prstGeom prst="ellipse">
            <a:avLst/>
          </a:prstGeom>
          <a:solidFill>
            <a:srgbClr val="1F6F8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3" name="Google Shape;233;p5"/>
          <p:cNvSpPr/>
          <p:nvPr/>
        </p:nvSpPr>
        <p:spPr>
          <a:xfrm>
            <a:off x="4846320" y="4197096"/>
            <a:ext cx="2834640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733"/>
              </a:buClr>
              <a:buSzPts val="1150"/>
              <a:buFont typeface="Calibri"/>
              <a:buNone/>
            </a:pPr>
            <a:r>
              <a:rPr b="0" i="0" lang="en-US" sz="1450" u="none" cap="none" strike="noStrike">
                <a:solidFill>
                  <a:srgbClr val="1B2733"/>
                </a:solidFill>
                <a:latin typeface="Calibri"/>
                <a:ea typeface="Calibri"/>
                <a:cs typeface="Calibri"/>
                <a:sym typeface="Calibri"/>
              </a:rPr>
              <a:t>Componentes de interacción con el usuario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5"/>
          <p:cNvSpPr/>
          <p:nvPr/>
        </p:nvSpPr>
        <p:spPr>
          <a:xfrm>
            <a:off x="4599432" y="5175504"/>
            <a:ext cx="118872" cy="118872"/>
          </a:xfrm>
          <a:prstGeom prst="ellipse">
            <a:avLst/>
          </a:prstGeom>
          <a:solidFill>
            <a:srgbClr val="1F6F8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5" name="Google Shape;235;p5"/>
          <p:cNvSpPr/>
          <p:nvPr/>
        </p:nvSpPr>
        <p:spPr>
          <a:xfrm>
            <a:off x="4846320" y="5065776"/>
            <a:ext cx="2834640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733"/>
              </a:buClr>
              <a:buSzPts val="1150"/>
              <a:buFont typeface="Calibri"/>
              <a:buNone/>
            </a:pPr>
            <a:r>
              <a:rPr b="0" i="0" lang="en-US" sz="1450" u="none" cap="none" strike="noStrike">
                <a:solidFill>
                  <a:srgbClr val="1B2733"/>
                </a:solidFill>
                <a:latin typeface="Calibri"/>
                <a:ea typeface="Calibri"/>
                <a:cs typeface="Calibri"/>
                <a:sym typeface="Calibri"/>
              </a:rPr>
              <a:t>Elaboración y ejecución de pruebas (testing)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5"/>
          <p:cNvSpPr/>
          <p:nvPr/>
        </p:nvSpPr>
        <p:spPr>
          <a:xfrm>
            <a:off x="8138160" y="2057400"/>
            <a:ext cx="3611880" cy="4023360"/>
          </a:xfrm>
          <a:prstGeom prst="roundRect">
            <a:avLst>
              <a:gd fmla="val 3038" name="adj"/>
            </a:avLst>
          </a:prstGeom>
          <a:solidFill>
            <a:srgbClr val="F6F8FA"/>
          </a:solidFill>
          <a:ln cap="flat" cmpd="sng" w="12700">
            <a:solidFill>
              <a:srgbClr val="E3E8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7" name="Google Shape;237;p5"/>
          <p:cNvSpPr/>
          <p:nvPr/>
        </p:nvSpPr>
        <p:spPr>
          <a:xfrm>
            <a:off x="8138160" y="2057400"/>
            <a:ext cx="3611880" cy="1051560"/>
          </a:xfrm>
          <a:prstGeom prst="roundRect">
            <a:avLst>
              <a:gd fmla="val 10435" name="adj"/>
            </a:avLst>
          </a:prstGeom>
          <a:solidFill>
            <a:srgbClr val="132B4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8" name="Google Shape;238;p5"/>
          <p:cNvSpPr/>
          <p:nvPr/>
        </p:nvSpPr>
        <p:spPr>
          <a:xfrm>
            <a:off x="8138160" y="2606040"/>
            <a:ext cx="3611880" cy="502920"/>
          </a:xfrm>
          <a:prstGeom prst="rect">
            <a:avLst/>
          </a:prstGeom>
          <a:solidFill>
            <a:srgbClr val="132B4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9" name="Google Shape;239;p5"/>
          <p:cNvSpPr/>
          <p:nvPr/>
        </p:nvSpPr>
        <p:spPr>
          <a:xfrm>
            <a:off x="8394192" y="2313432"/>
            <a:ext cx="548640" cy="548640"/>
          </a:xfrm>
          <a:prstGeom prst="ellipse">
            <a:avLst/>
          </a:prstGeom>
          <a:solidFill>
            <a:srgbClr val="F2A9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cons/chart.png" id="240" name="Google Shape;240;p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517636" y="2436876"/>
            <a:ext cx="301752" cy="301752"/>
          </a:xfrm>
          <a:prstGeom prst="rect">
            <a:avLst/>
          </a:prstGeom>
          <a:noFill/>
          <a:ln>
            <a:noFill/>
          </a:ln>
        </p:spPr>
      </p:pic>
      <p:sp>
        <p:nvSpPr>
          <p:cNvPr id="241" name="Google Shape;241;p5"/>
          <p:cNvSpPr/>
          <p:nvPr/>
        </p:nvSpPr>
        <p:spPr>
          <a:xfrm>
            <a:off x="9098280" y="2221992"/>
            <a:ext cx="2514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50"/>
              <a:buFont typeface="Cambria"/>
              <a:buNone/>
            </a:pPr>
            <a:r>
              <a:rPr b="1" i="0" lang="en-US" sz="185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Natanael Yáñez</a:t>
            </a:r>
            <a:endParaRPr b="0" i="0" sz="1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5"/>
          <p:cNvSpPr/>
          <p:nvPr/>
        </p:nvSpPr>
        <p:spPr>
          <a:xfrm>
            <a:off x="9098280" y="2587752"/>
            <a:ext cx="2514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FE0EA"/>
              </a:buClr>
              <a:buSzPts val="1100"/>
              <a:buFont typeface="Calibri"/>
              <a:buNone/>
            </a:pPr>
            <a:r>
              <a:rPr b="0" i="0" lang="en-US" sz="1400" u="none" cap="none" strike="noStrike">
                <a:solidFill>
                  <a:srgbClr val="CFE0EA"/>
                </a:solidFill>
                <a:latin typeface="Calibri"/>
                <a:ea typeface="Calibri"/>
                <a:cs typeface="Calibri"/>
                <a:sym typeface="Calibri"/>
              </a:rPr>
              <a:t>Ciencia de Datos &amp; Despliegue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5"/>
          <p:cNvSpPr/>
          <p:nvPr/>
        </p:nvSpPr>
        <p:spPr>
          <a:xfrm>
            <a:off x="8394192" y="3438144"/>
            <a:ext cx="118872" cy="118872"/>
          </a:xfrm>
          <a:prstGeom prst="ellipse">
            <a:avLst/>
          </a:prstGeom>
          <a:solidFill>
            <a:srgbClr val="1F6F8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4" name="Google Shape;244;p5"/>
          <p:cNvSpPr/>
          <p:nvPr/>
        </p:nvSpPr>
        <p:spPr>
          <a:xfrm>
            <a:off x="8641080" y="3328416"/>
            <a:ext cx="2834640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733"/>
              </a:buClr>
              <a:buSzPts val="1150"/>
              <a:buFont typeface="Calibri"/>
              <a:buNone/>
            </a:pPr>
            <a:r>
              <a:rPr b="0" i="0" lang="en-US" sz="1450" u="none" cap="none" strike="noStrike">
                <a:solidFill>
                  <a:srgbClr val="1B2733"/>
                </a:solidFill>
                <a:latin typeface="Calibri"/>
                <a:ea typeface="Calibri"/>
                <a:cs typeface="Calibri"/>
                <a:sym typeface="Calibri"/>
              </a:rPr>
              <a:t>Levantamiento de requerimientos con el cliente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5"/>
          <p:cNvSpPr/>
          <p:nvPr/>
        </p:nvSpPr>
        <p:spPr>
          <a:xfrm>
            <a:off x="8394192" y="4306824"/>
            <a:ext cx="118872" cy="118872"/>
          </a:xfrm>
          <a:prstGeom prst="ellipse">
            <a:avLst/>
          </a:prstGeom>
          <a:solidFill>
            <a:srgbClr val="1F6F8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6" name="Google Shape;246;p5"/>
          <p:cNvSpPr/>
          <p:nvPr/>
        </p:nvSpPr>
        <p:spPr>
          <a:xfrm>
            <a:off x="8641080" y="4197096"/>
            <a:ext cx="2834640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733"/>
              </a:buClr>
              <a:buSzPts val="1150"/>
              <a:buFont typeface="Calibri"/>
              <a:buNone/>
            </a:pPr>
            <a:r>
              <a:rPr b="0" i="0" lang="en-US" sz="1450" u="none" cap="none" strike="noStrike">
                <a:solidFill>
                  <a:srgbClr val="1B2733"/>
                </a:solidFill>
                <a:latin typeface="Calibri"/>
                <a:ea typeface="Calibri"/>
                <a:cs typeface="Calibri"/>
                <a:sym typeface="Calibri"/>
              </a:rPr>
              <a:t>Modelo predictivo de ganancias y utilidades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5"/>
          <p:cNvSpPr/>
          <p:nvPr/>
        </p:nvSpPr>
        <p:spPr>
          <a:xfrm>
            <a:off x="8394192" y="5175504"/>
            <a:ext cx="118872" cy="118872"/>
          </a:xfrm>
          <a:prstGeom prst="ellipse">
            <a:avLst/>
          </a:prstGeom>
          <a:solidFill>
            <a:srgbClr val="1F6F8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8" name="Google Shape;248;p5"/>
          <p:cNvSpPr/>
          <p:nvPr/>
        </p:nvSpPr>
        <p:spPr>
          <a:xfrm>
            <a:off x="8641080" y="5065776"/>
            <a:ext cx="2834640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733"/>
              </a:buClr>
              <a:buSzPts val="1150"/>
              <a:buFont typeface="Calibri"/>
              <a:buNone/>
            </a:pPr>
            <a:r>
              <a:rPr b="0" i="0" lang="en-US" sz="1450" u="none" cap="none" strike="noStrike">
                <a:solidFill>
                  <a:srgbClr val="1B2733"/>
                </a:solidFill>
                <a:latin typeface="Calibri"/>
                <a:ea typeface="Calibri"/>
                <a:cs typeface="Calibri"/>
                <a:sym typeface="Calibri"/>
              </a:rPr>
              <a:t>Configuración del entorno y despliegue final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5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B6B79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B6B79"/>
                </a:solidFill>
                <a:latin typeface="Calibri"/>
                <a:ea typeface="Calibri"/>
                <a:cs typeface="Calibri"/>
                <a:sym typeface="Calibri"/>
              </a:rPr>
              <a:t>05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3E8ED"/>
        </a:solidFill>
      </p:bgPr>
    </p:bg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6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6F8B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F6F8B"/>
                </a:solidFill>
                <a:latin typeface="Calibri"/>
                <a:ea typeface="Calibri"/>
                <a:cs typeface="Calibri"/>
                <a:sym typeface="Calibri"/>
              </a:rPr>
              <a:t>EVIDENCIAS Y ENTREGABLES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6"/>
          <p:cNvSpPr/>
          <p:nvPr/>
        </p:nvSpPr>
        <p:spPr>
          <a:xfrm>
            <a:off x="548640" y="658368"/>
            <a:ext cx="77724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733"/>
              </a:buClr>
              <a:buSzPts val="3200"/>
              <a:buFont typeface="Cambria"/>
              <a:buNone/>
            </a:pPr>
            <a:r>
              <a:rPr b="1" i="0" lang="en-US" sz="3200" u="none" cap="none" strike="noStrike">
                <a:solidFill>
                  <a:srgbClr val="1B2733"/>
                </a:solidFill>
                <a:latin typeface="Cambria"/>
                <a:ea typeface="Cambria"/>
                <a:cs typeface="Cambria"/>
                <a:sym typeface="Cambria"/>
              </a:rPr>
              <a:t>Qué se entrega en cada etapa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6"/>
          <p:cNvSpPr/>
          <p:nvPr/>
        </p:nvSpPr>
        <p:spPr>
          <a:xfrm>
            <a:off x="548640" y="1737360"/>
            <a:ext cx="5349240" cy="502920"/>
          </a:xfrm>
          <a:prstGeom prst="roundRect">
            <a:avLst>
              <a:gd fmla="val 18182" name="adj"/>
            </a:avLst>
          </a:prstGeom>
          <a:solidFill>
            <a:srgbClr val="1F6F8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8" name="Google Shape;258;p6"/>
          <p:cNvSpPr/>
          <p:nvPr/>
        </p:nvSpPr>
        <p:spPr>
          <a:xfrm>
            <a:off x="548640" y="1737360"/>
            <a:ext cx="53492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AVANCE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6"/>
          <p:cNvSpPr/>
          <p:nvPr/>
        </p:nvSpPr>
        <p:spPr>
          <a:xfrm>
            <a:off x="6080760" y="1737360"/>
            <a:ext cx="5532120" cy="502920"/>
          </a:xfrm>
          <a:prstGeom prst="roundRect">
            <a:avLst>
              <a:gd fmla="val 18182" name="adj"/>
            </a:avLst>
          </a:prstGeom>
          <a:solidFill>
            <a:srgbClr val="132B4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0" name="Google Shape;260;p6"/>
          <p:cNvSpPr/>
          <p:nvPr/>
        </p:nvSpPr>
        <p:spPr>
          <a:xfrm>
            <a:off x="6080760" y="1737360"/>
            <a:ext cx="55321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FINAL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6"/>
          <p:cNvSpPr/>
          <p:nvPr/>
        </p:nvSpPr>
        <p:spPr>
          <a:xfrm>
            <a:off x="484665" y="2423160"/>
            <a:ext cx="384000" cy="384000"/>
          </a:xfrm>
          <a:prstGeom prst="ellipse">
            <a:avLst/>
          </a:prstGeom>
          <a:solidFill>
            <a:srgbClr val="1F6F8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cons/check.png" id="262" name="Google Shape;262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076" y="2509571"/>
            <a:ext cx="211226" cy="211226"/>
          </a:xfrm>
          <a:prstGeom prst="rect">
            <a:avLst/>
          </a:prstGeom>
          <a:noFill/>
          <a:ln>
            <a:noFill/>
          </a:ln>
        </p:spPr>
      </p:pic>
      <p:sp>
        <p:nvSpPr>
          <p:cNvPr id="263" name="Google Shape;263;p6"/>
          <p:cNvSpPr/>
          <p:nvPr/>
        </p:nvSpPr>
        <p:spPr>
          <a:xfrm>
            <a:off x="1051560" y="2377440"/>
            <a:ext cx="4846320" cy="8686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32B45"/>
              </a:buClr>
              <a:buSzPts val="1200"/>
              <a:buFont typeface="Calibri"/>
              <a:buNone/>
            </a:pPr>
            <a:r>
              <a:rPr b="1" i="0" lang="en-US" sz="1400" u="none" cap="none" strike="noStrike">
                <a:solidFill>
                  <a:srgbClr val="132B45"/>
                </a:solidFill>
                <a:latin typeface="Arial"/>
                <a:ea typeface="Arial"/>
                <a:cs typeface="Arial"/>
                <a:sym typeface="Arial"/>
              </a:rPr>
              <a:t>Documento de levantamiento de requerimientos</a:t>
            </a:r>
            <a:br>
              <a:rPr b="1" i="0" lang="en-US" sz="1400" u="none" cap="none" strike="noStrike">
                <a:solidFill>
                  <a:srgbClr val="132B45"/>
                </a:solidFill>
                <a:latin typeface="Arial"/>
                <a:ea typeface="Arial"/>
                <a:cs typeface="Arial"/>
                <a:sym typeface="Arial"/>
              </a:rPr>
            </a:b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B6B79"/>
              </a:buClr>
              <a:buSzPts val="1050"/>
              <a:buFont typeface="Calibri"/>
              <a:buNone/>
            </a:pPr>
            <a:r>
              <a:rPr b="0" i="0" lang="en-US" sz="1200" u="none" cap="none" strike="noStrik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rPr>
              <a:t>Requerimientos funcionales y no funcionales, historias de usuario y criterios de aceptación.</a:t>
            </a:r>
            <a:endParaRPr b="0" i="0" sz="1200" u="none" cap="none" strike="noStrike">
              <a:solidFill>
                <a:srgbClr val="43434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4" name="Google Shape;264;p6"/>
          <p:cNvSpPr/>
          <p:nvPr/>
        </p:nvSpPr>
        <p:spPr>
          <a:xfrm>
            <a:off x="484665" y="3447288"/>
            <a:ext cx="384000" cy="384000"/>
          </a:xfrm>
          <a:prstGeom prst="ellipse">
            <a:avLst/>
          </a:prstGeom>
          <a:solidFill>
            <a:srgbClr val="1F6F8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cons/check.png" id="265" name="Google Shape;265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076" y="3533699"/>
            <a:ext cx="211226" cy="211226"/>
          </a:xfrm>
          <a:prstGeom prst="rect">
            <a:avLst/>
          </a:prstGeom>
          <a:noFill/>
          <a:ln>
            <a:noFill/>
          </a:ln>
        </p:spPr>
      </p:pic>
      <p:sp>
        <p:nvSpPr>
          <p:cNvPr id="266" name="Google Shape;266;p6"/>
          <p:cNvSpPr/>
          <p:nvPr/>
        </p:nvSpPr>
        <p:spPr>
          <a:xfrm>
            <a:off x="1051560" y="3401568"/>
            <a:ext cx="4846320" cy="8686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32B45"/>
              </a:buClr>
              <a:buSzPts val="1200"/>
              <a:buFont typeface="Calibri"/>
              <a:buNone/>
            </a:pPr>
            <a:r>
              <a:rPr b="1" i="0" lang="en-US" sz="1400" u="none" cap="none" strike="noStrike">
                <a:solidFill>
                  <a:srgbClr val="132B45"/>
                </a:solidFill>
                <a:latin typeface="Arial"/>
                <a:ea typeface="Arial"/>
                <a:cs typeface="Arial"/>
                <a:sym typeface="Arial"/>
              </a:rPr>
              <a:t>Modelo de Base de Datos</a:t>
            </a:r>
            <a:br>
              <a:rPr b="1" i="0" lang="en-US" sz="1400" u="none" cap="none" strike="noStrike">
                <a:solidFill>
                  <a:srgbClr val="132B45"/>
                </a:solidFill>
                <a:latin typeface="Arial"/>
                <a:ea typeface="Arial"/>
                <a:cs typeface="Arial"/>
                <a:sym typeface="Arial"/>
              </a:rPr>
            </a:b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B6B79"/>
              </a:buClr>
              <a:buSzPts val="1050"/>
              <a:buFont typeface="Calibri"/>
              <a:buNone/>
            </a:pPr>
            <a:r>
              <a:rPr b="0" i="0" lang="en-US" sz="1200" u="none" cap="none" strike="noStrik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rPr>
              <a:t>Estructura de información para reemplazar los registros dispersos en Excel.</a:t>
            </a:r>
            <a:endParaRPr b="0" i="0" sz="1200" u="none" cap="none" strike="noStrike">
              <a:solidFill>
                <a:srgbClr val="43434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7" name="Google Shape;267;p6"/>
          <p:cNvSpPr/>
          <p:nvPr/>
        </p:nvSpPr>
        <p:spPr>
          <a:xfrm>
            <a:off x="6048760" y="2574085"/>
            <a:ext cx="384000" cy="384000"/>
          </a:xfrm>
          <a:prstGeom prst="ellipse">
            <a:avLst/>
          </a:prstGeom>
          <a:solidFill>
            <a:srgbClr val="F2A9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cons/evidence.png" id="268" name="Google Shape;268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135171" y="2660496"/>
            <a:ext cx="211226" cy="211226"/>
          </a:xfrm>
          <a:prstGeom prst="rect">
            <a:avLst/>
          </a:prstGeom>
          <a:noFill/>
          <a:ln>
            <a:noFill/>
          </a:ln>
        </p:spPr>
      </p:pic>
      <p:sp>
        <p:nvSpPr>
          <p:cNvPr id="269" name="Google Shape;269;p6"/>
          <p:cNvSpPr/>
          <p:nvPr/>
        </p:nvSpPr>
        <p:spPr>
          <a:xfrm>
            <a:off x="6583675" y="2660500"/>
            <a:ext cx="5206500" cy="724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Clr>
                <a:srgbClr val="132B45"/>
              </a:buClr>
              <a:buSzPts val="1200"/>
              <a:buFont typeface="Calibri"/>
              <a:buNone/>
            </a:pPr>
            <a:r>
              <a:rPr b="1" i="0" lang="en-US" sz="1400" u="none" cap="none" strike="noStrike">
                <a:solidFill>
                  <a:srgbClr val="132B45"/>
                </a:solidFill>
                <a:latin typeface="Arial"/>
                <a:ea typeface="Arial"/>
                <a:cs typeface="Arial"/>
                <a:sym typeface="Arial"/>
              </a:rPr>
              <a:t>Informe de preparación de datos</a:t>
            </a:r>
            <a:br>
              <a:rPr b="1" i="0" lang="en-US" sz="1400" u="none" cap="none" strike="noStrike">
                <a:solidFill>
                  <a:srgbClr val="132B45"/>
                </a:solidFill>
                <a:latin typeface="Arial"/>
                <a:ea typeface="Arial"/>
                <a:cs typeface="Arial"/>
                <a:sym typeface="Arial"/>
              </a:rPr>
            </a:b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Clr>
                <a:srgbClr val="5B6B79"/>
              </a:buClr>
              <a:buSzPts val="1050"/>
              <a:buFont typeface="Calibri"/>
              <a:buNone/>
            </a:pPr>
            <a:r>
              <a:rPr b="0" i="0" lang="en-US" sz="1200" u="none" cap="none" strike="noStrik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rPr>
              <a:t>Revisión, limpieza y tratamiento de los datos históricos del cliente</a:t>
            </a:r>
            <a:r>
              <a:rPr b="0" i="0" lang="en-US" sz="1200" u="none" cap="none" strike="noStrike">
                <a:solidFill>
                  <a:srgbClr val="5B6B79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0" name="Google Shape;270;p6"/>
          <p:cNvSpPr/>
          <p:nvPr/>
        </p:nvSpPr>
        <p:spPr>
          <a:xfrm>
            <a:off x="6048760" y="3415333"/>
            <a:ext cx="384000" cy="384000"/>
          </a:xfrm>
          <a:prstGeom prst="ellipse">
            <a:avLst/>
          </a:prstGeom>
          <a:solidFill>
            <a:srgbClr val="F2A9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cons/evidence.png" id="271" name="Google Shape;271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135171" y="3501744"/>
            <a:ext cx="211226" cy="211226"/>
          </a:xfrm>
          <a:prstGeom prst="rect">
            <a:avLst/>
          </a:prstGeom>
          <a:noFill/>
          <a:ln>
            <a:noFill/>
          </a:ln>
        </p:spPr>
      </p:pic>
      <p:sp>
        <p:nvSpPr>
          <p:cNvPr id="272" name="Google Shape;272;p6"/>
          <p:cNvSpPr/>
          <p:nvPr/>
        </p:nvSpPr>
        <p:spPr>
          <a:xfrm>
            <a:off x="6583675" y="3444260"/>
            <a:ext cx="5206500" cy="724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Clr>
                <a:srgbClr val="132B45"/>
              </a:buClr>
              <a:buSzPts val="1200"/>
              <a:buFont typeface="Calibri"/>
              <a:buNone/>
            </a:pPr>
            <a:r>
              <a:rPr b="1" i="0" lang="en-US" sz="1400" u="none" cap="none" strike="noStrike">
                <a:solidFill>
                  <a:srgbClr val="132B45"/>
                </a:solidFill>
                <a:latin typeface="Arial"/>
                <a:ea typeface="Arial"/>
                <a:cs typeface="Arial"/>
                <a:sym typeface="Arial"/>
              </a:rPr>
              <a:t>Plataforma Web desplegada</a:t>
            </a:r>
            <a:br>
              <a:rPr b="1" i="0" lang="en-US" sz="1400" u="none" cap="none" strike="noStrike">
                <a:solidFill>
                  <a:srgbClr val="132B45"/>
                </a:solidFill>
                <a:latin typeface="Arial"/>
                <a:ea typeface="Arial"/>
                <a:cs typeface="Arial"/>
                <a:sym typeface="Arial"/>
              </a:rPr>
            </a:b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Clr>
                <a:srgbClr val="5B6B79"/>
              </a:buClr>
              <a:buSzPts val="1050"/>
              <a:buFont typeface="Calibri"/>
              <a:buNone/>
            </a:pPr>
            <a:r>
              <a:rPr b="0" i="0" lang="en-US" sz="1250" u="none" cap="none" strike="noStrik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rPr>
              <a:t>Versión final de la plataforma, en funcionamiento.</a:t>
            </a:r>
            <a:endParaRPr b="0" i="0" sz="1400" u="none" cap="none" strike="noStrike">
              <a:solidFill>
                <a:srgbClr val="43434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3" name="Google Shape;273;p6"/>
          <p:cNvSpPr/>
          <p:nvPr/>
        </p:nvSpPr>
        <p:spPr>
          <a:xfrm>
            <a:off x="6048760" y="4256581"/>
            <a:ext cx="384000" cy="384000"/>
          </a:xfrm>
          <a:prstGeom prst="ellipse">
            <a:avLst/>
          </a:prstGeom>
          <a:solidFill>
            <a:srgbClr val="F2A9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cons/evidence.png" id="274" name="Google Shape;274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135171" y="4342992"/>
            <a:ext cx="211226" cy="211226"/>
          </a:xfrm>
          <a:prstGeom prst="rect">
            <a:avLst/>
          </a:prstGeom>
          <a:noFill/>
          <a:ln>
            <a:noFill/>
          </a:ln>
        </p:spPr>
      </p:pic>
      <p:sp>
        <p:nvSpPr>
          <p:cNvPr id="275" name="Google Shape;275;p6"/>
          <p:cNvSpPr/>
          <p:nvPr/>
        </p:nvSpPr>
        <p:spPr>
          <a:xfrm>
            <a:off x="6583675" y="4228020"/>
            <a:ext cx="5206500" cy="724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Clr>
                <a:srgbClr val="132B45"/>
              </a:buClr>
              <a:buSzPts val="1200"/>
              <a:buFont typeface="Calibri"/>
              <a:buNone/>
            </a:pPr>
            <a:r>
              <a:rPr b="1" i="0" lang="en-US" sz="1400" u="none" cap="none" strike="noStrike">
                <a:solidFill>
                  <a:srgbClr val="132B45"/>
                </a:solidFill>
                <a:latin typeface="Arial"/>
                <a:ea typeface="Arial"/>
                <a:cs typeface="Arial"/>
                <a:sym typeface="Arial"/>
              </a:rPr>
              <a:t>Dashboards y sistema de reportería</a:t>
            </a:r>
            <a:endParaRPr b="1" i="0" sz="1400" u="none" cap="none" strike="noStrike">
              <a:solidFill>
                <a:srgbClr val="132B45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Clr>
                <a:srgbClr val="132B45"/>
              </a:buClr>
              <a:buSzPts val="1200"/>
              <a:buFont typeface="Calibri"/>
              <a:buNone/>
            </a:pPr>
            <a:r>
              <a:t/>
            </a:r>
            <a:endParaRPr b="1" i="0" sz="1400" u="none" cap="none" strike="noStrike">
              <a:solidFill>
                <a:srgbClr val="132B45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Clr>
                <a:srgbClr val="5B6B79"/>
              </a:buClr>
              <a:buSzPts val="1050"/>
              <a:buFont typeface="Calibri"/>
              <a:buNone/>
            </a:pPr>
            <a:r>
              <a:rPr b="0" i="0" lang="en-US" sz="1250" u="none" cap="none" strike="noStrik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rPr>
              <a:t>KPI de la operación de la empresa visualizados dinámicamente.</a:t>
            </a:r>
            <a:endParaRPr b="0" i="0" sz="1400" u="none" cap="none" strike="noStrike">
              <a:solidFill>
                <a:srgbClr val="43434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6" name="Google Shape;276;p6"/>
          <p:cNvSpPr/>
          <p:nvPr/>
        </p:nvSpPr>
        <p:spPr>
          <a:xfrm>
            <a:off x="6048760" y="5097829"/>
            <a:ext cx="384000" cy="384000"/>
          </a:xfrm>
          <a:prstGeom prst="ellipse">
            <a:avLst/>
          </a:prstGeom>
          <a:solidFill>
            <a:srgbClr val="F2A9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cons/evidence.png" id="277" name="Google Shape;277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135171" y="5184240"/>
            <a:ext cx="211226" cy="211226"/>
          </a:xfrm>
          <a:prstGeom prst="rect">
            <a:avLst/>
          </a:prstGeom>
          <a:noFill/>
          <a:ln>
            <a:noFill/>
          </a:ln>
        </p:spPr>
      </p:pic>
      <p:sp>
        <p:nvSpPr>
          <p:cNvPr id="278" name="Google Shape;278;p6"/>
          <p:cNvSpPr/>
          <p:nvPr/>
        </p:nvSpPr>
        <p:spPr>
          <a:xfrm>
            <a:off x="6583675" y="5083555"/>
            <a:ext cx="5206500" cy="724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Clr>
                <a:srgbClr val="132B45"/>
              </a:buClr>
              <a:buSzPts val="1200"/>
              <a:buFont typeface="Calibri"/>
              <a:buNone/>
            </a:pPr>
            <a:r>
              <a:rPr b="1" i="0" lang="en-US" sz="1400" u="none" cap="none" strike="noStrike">
                <a:solidFill>
                  <a:srgbClr val="132B45"/>
                </a:solidFill>
                <a:latin typeface="Arial"/>
                <a:ea typeface="Arial"/>
                <a:cs typeface="Arial"/>
                <a:sym typeface="Arial"/>
              </a:rPr>
              <a:t>Módulo predictivo de ganancias y utilidades</a:t>
            </a:r>
            <a:br>
              <a:rPr b="1" i="0" lang="en-US" sz="1400" u="none" cap="none" strike="noStrike">
                <a:solidFill>
                  <a:srgbClr val="132B45"/>
                </a:solidFill>
                <a:latin typeface="Arial"/>
                <a:ea typeface="Arial"/>
                <a:cs typeface="Arial"/>
                <a:sym typeface="Arial"/>
              </a:rPr>
            </a:b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Clr>
                <a:srgbClr val="5B6B79"/>
              </a:buClr>
              <a:buSzPts val="1050"/>
              <a:buFont typeface="Calibri"/>
              <a:buNone/>
            </a:pPr>
            <a:r>
              <a:rPr b="0" i="0" lang="en-US" sz="1250" u="none" cap="none" strike="noStrik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rPr>
              <a:t>Proyecciones generadas con Ciencia de Datos e IA.</a:t>
            </a:r>
            <a:endParaRPr b="0" i="0" sz="1400" u="none" cap="none" strike="noStrike">
              <a:solidFill>
                <a:srgbClr val="43434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9" name="Google Shape;279;p6"/>
          <p:cNvSpPr/>
          <p:nvPr/>
        </p:nvSpPr>
        <p:spPr>
          <a:xfrm>
            <a:off x="6048760" y="5939077"/>
            <a:ext cx="384000" cy="384000"/>
          </a:xfrm>
          <a:prstGeom prst="ellipse">
            <a:avLst/>
          </a:prstGeom>
          <a:solidFill>
            <a:srgbClr val="F2A9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cons/evidence.png" id="280" name="Google Shape;280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135171" y="6025488"/>
            <a:ext cx="211226" cy="211226"/>
          </a:xfrm>
          <a:prstGeom prst="rect">
            <a:avLst/>
          </a:prstGeom>
          <a:noFill/>
          <a:ln>
            <a:noFill/>
          </a:ln>
        </p:spPr>
      </p:pic>
      <p:sp>
        <p:nvSpPr>
          <p:cNvPr id="281" name="Google Shape;281;p6"/>
          <p:cNvSpPr/>
          <p:nvPr/>
        </p:nvSpPr>
        <p:spPr>
          <a:xfrm>
            <a:off x="6583675" y="5939065"/>
            <a:ext cx="5206500" cy="724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Clr>
                <a:srgbClr val="132B45"/>
              </a:buClr>
              <a:buSzPts val="1200"/>
              <a:buFont typeface="Calibri"/>
              <a:buNone/>
            </a:pPr>
            <a:r>
              <a:rPr b="1" i="0" lang="en-US" sz="1400" u="none" cap="none" strike="noStrike">
                <a:solidFill>
                  <a:srgbClr val="132B45"/>
                </a:solidFill>
                <a:latin typeface="Arial"/>
                <a:ea typeface="Arial"/>
                <a:cs typeface="Arial"/>
                <a:sym typeface="Arial"/>
              </a:rPr>
              <a:t>Usuarios, roles y notificaciones</a:t>
            </a:r>
            <a:br>
              <a:rPr b="1" i="0" lang="en-US" sz="1400" u="none" cap="none" strike="noStrike">
                <a:solidFill>
                  <a:srgbClr val="132B45"/>
                </a:solidFill>
                <a:latin typeface="Arial"/>
                <a:ea typeface="Arial"/>
                <a:cs typeface="Arial"/>
                <a:sym typeface="Arial"/>
              </a:rPr>
            </a:b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Clr>
                <a:srgbClr val="5B6B79"/>
              </a:buClr>
              <a:buSzPts val="1050"/>
              <a:buFont typeface="Calibri"/>
              <a:buNone/>
            </a:pPr>
            <a:r>
              <a:rPr b="0" i="0" lang="en-US" sz="1250" u="none" cap="none" strike="noStrik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rPr>
              <a:t>Control de accesos y alertas automáticas de estado de pago.</a:t>
            </a:r>
            <a:endParaRPr b="0" i="0" sz="1400" u="none" cap="none" strike="noStrike">
              <a:solidFill>
                <a:srgbClr val="43434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2" name="Google Shape;282;p6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B6B79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B6B79"/>
                </a:solidFill>
                <a:latin typeface="Calibri"/>
                <a:ea typeface="Calibri"/>
                <a:cs typeface="Calibri"/>
                <a:sym typeface="Calibri"/>
              </a:rPr>
              <a:t>06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83" name="Google Shape;283;p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52400" y="4422648"/>
            <a:ext cx="2282952" cy="2282952"/>
          </a:xfrm>
          <a:prstGeom prst="rect">
            <a:avLst/>
          </a:prstGeom>
          <a:noFill/>
          <a:ln>
            <a:noFill/>
          </a:ln>
        </p:spPr>
      </p:pic>
      <p:pic>
        <p:nvPicPr>
          <p:cNvPr id="284" name="Google Shape;284;p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587750" y="4422650"/>
            <a:ext cx="3167001" cy="2282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3E8ED"/>
        </a:solidFill>
      </p:bgPr>
    </p:bg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7"/>
          <p:cNvSpPr/>
          <p:nvPr/>
        </p:nvSpPr>
        <p:spPr>
          <a:xfrm>
            <a:off x="548640" y="296323"/>
            <a:ext cx="73152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6F8B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F6F8B"/>
                </a:solidFill>
                <a:latin typeface="Calibri"/>
                <a:ea typeface="Calibri"/>
                <a:cs typeface="Calibri"/>
                <a:sym typeface="Calibri"/>
              </a:rPr>
              <a:t>PLANIFICACIÓN · 18 SEMANAS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7"/>
          <p:cNvSpPr/>
          <p:nvPr/>
        </p:nvSpPr>
        <p:spPr>
          <a:xfrm>
            <a:off x="366850" y="658375"/>
            <a:ext cx="114843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733"/>
              </a:buClr>
              <a:buSzPts val="3200"/>
              <a:buFont typeface="Cambria"/>
              <a:buNone/>
            </a:pPr>
            <a:r>
              <a:rPr b="1" i="0" lang="en-US" sz="3200" u="none" cap="none" strike="noStrike">
                <a:solidFill>
                  <a:srgbClr val="1B2733"/>
                </a:solidFill>
                <a:latin typeface="Cambria"/>
                <a:ea typeface="Cambria"/>
                <a:cs typeface="Cambria"/>
                <a:sym typeface="Cambria"/>
              </a:rPr>
              <a:t>De la definición al despliegue,</a:t>
            </a:r>
            <a:r>
              <a:rPr b="0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1" i="0" lang="en-US" sz="3200" u="none" cap="none" strike="noStrike">
                <a:solidFill>
                  <a:srgbClr val="1B2733"/>
                </a:solidFill>
                <a:latin typeface="Cambria"/>
                <a:ea typeface="Cambria"/>
                <a:cs typeface="Cambria"/>
                <a:sym typeface="Cambria"/>
              </a:rPr>
              <a:t>en 6 sprints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p7"/>
          <p:cNvSpPr/>
          <p:nvPr/>
        </p:nvSpPr>
        <p:spPr>
          <a:xfrm>
            <a:off x="548640" y="2011680"/>
            <a:ext cx="1783080" cy="4114800"/>
          </a:xfrm>
          <a:prstGeom prst="roundRect">
            <a:avLst>
              <a:gd fmla="val 5128" name="adj"/>
            </a:avLst>
          </a:prstGeom>
          <a:solidFill>
            <a:srgbClr val="132B45"/>
          </a:solidFill>
          <a:ln cap="flat" cmpd="sng" w="12700">
            <a:solidFill>
              <a:srgbClr val="E3E8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3" name="Google Shape;293;p7"/>
          <p:cNvSpPr/>
          <p:nvPr/>
        </p:nvSpPr>
        <p:spPr>
          <a:xfrm>
            <a:off x="658368" y="2176272"/>
            <a:ext cx="1563624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A900"/>
              </a:buClr>
              <a:buSzPts val="1400"/>
              <a:buFont typeface="Cambria"/>
              <a:buNone/>
            </a:pPr>
            <a:r>
              <a:rPr b="1" i="0" lang="en-US" sz="1400" u="none" cap="none" strike="noStrike">
                <a:solidFill>
                  <a:srgbClr val="F2A900"/>
                </a:solidFill>
                <a:latin typeface="Cambria"/>
                <a:ea typeface="Cambria"/>
                <a:cs typeface="Cambria"/>
                <a:sym typeface="Cambria"/>
              </a:rPr>
              <a:t>Sprint </a:t>
            </a:r>
            <a:r>
              <a:rPr b="1" lang="en-US">
                <a:solidFill>
                  <a:srgbClr val="F2A900"/>
                </a:solidFill>
                <a:latin typeface="Cambria"/>
                <a:ea typeface="Cambria"/>
                <a:cs typeface="Cambria"/>
                <a:sym typeface="Cambria"/>
              </a:rPr>
              <a:t>0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p7"/>
          <p:cNvSpPr/>
          <p:nvPr/>
        </p:nvSpPr>
        <p:spPr>
          <a:xfrm>
            <a:off x="658368" y="2514600"/>
            <a:ext cx="1563624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FE0EA"/>
              </a:buClr>
              <a:buSzPts val="1050"/>
              <a:buFont typeface="Calibri"/>
              <a:buNone/>
            </a:pPr>
            <a:r>
              <a:rPr b="1" i="0" lang="en-US" sz="1200" u="none" cap="none" strike="noStrike">
                <a:solidFill>
                  <a:srgbClr val="CFE0EA"/>
                </a:solidFill>
                <a:latin typeface="Calibri"/>
                <a:ea typeface="Calibri"/>
                <a:cs typeface="Calibri"/>
                <a:sym typeface="Calibri"/>
              </a:rPr>
              <a:t>Semanas 1–4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95" name="Google Shape;295;p7"/>
          <p:cNvCxnSpPr/>
          <p:nvPr/>
        </p:nvCxnSpPr>
        <p:spPr>
          <a:xfrm>
            <a:off x="658368" y="2880360"/>
            <a:ext cx="1563624" cy="0"/>
          </a:xfrm>
          <a:prstGeom prst="straightConnector1">
            <a:avLst/>
          </a:prstGeom>
          <a:noFill/>
          <a:ln cap="flat" cmpd="sng" w="12700">
            <a:solidFill>
              <a:srgbClr val="3E5A73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96" name="Google Shape;296;p7"/>
          <p:cNvSpPr/>
          <p:nvPr/>
        </p:nvSpPr>
        <p:spPr>
          <a:xfrm>
            <a:off x="658368" y="3017520"/>
            <a:ext cx="1563624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alibri"/>
              <a:buNone/>
            </a:pPr>
            <a:r>
              <a:rPr b="1" i="0" lang="en-US" sz="15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Levantamiento y Backlog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p7"/>
          <p:cNvSpPr/>
          <p:nvPr/>
        </p:nvSpPr>
        <p:spPr>
          <a:xfrm>
            <a:off x="658368" y="3749040"/>
            <a:ext cx="1563624" cy="21945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9D6DE"/>
              </a:buClr>
              <a:buSzPts val="1000"/>
              <a:buFont typeface="Calibri"/>
              <a:buNone/>
            </a:pPr>
            <a:r>
              <a:rPr b="0" i="0" lang="en-US" sz="1400" u="none" cap="none" strike="noStrike">
                <a:solidFill>
                  <a:srgbClr val="C9D6DE"/>
                </a:solidFill>
                <a:latin typeface="Calibri"/>
                <a:ea typeface="Calibri"/>
                <a:cs typeface="Calibri"/>
                <a:sym typeface="Calibri"/>
              </a:rPr>
              <a:t>Reuniones con el cliente, análisis de procesos y definición del Product Backlog.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p7"/>
          <p:cNvSpPr/>
          <p:nvPr/>
        </p:nvSpPr>
        <p:spPr>
          <a:xfrm>
            <a:off x="2441448" y="2011680"/>
            <a:ext cx="1783080" cy="4114800"/>
          </a:xfrm>
          <a:prstGeom prst="roundRect">
            <a:avLst>
              <a:gd fmla="val 5128" name="adj"/>
            </a:avLst>
          </a:prstGeom>
          <a:solidFill>
            <a:srgbClr val="F6F8FA"/>
          </a:solidFill>
          <a:ln cap="flat" cmpd="sng" w="12700">
            <a:solidFill>
              <a:srgbClr val="E3E8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9" name="Google Shape;299;p7"/>
          <p:cNvSpPr/>
          <p:nvPr/>
        </p:nvSpPr>
        <p:spPr>
          <a:xfrm>
            <a:off x="2551176" y="2176272"/>
            <a:ext cx="1563624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32B45"/>
              </a:buClr>
              <a:buSzPts val="1400"/>
              <a:buFont typeface="Cambria"/>
              <a:buNone/>
            </a:pPr>
            <a:r>
              <a:rPr b="1" i="0" lang="en-US" sz="1400" u="none" cap="none" strike="noStrike">
                <a:solidFill>
                  <a:srgbClr val="132B45"/>
                </a:solidFill>
                <a:latin typeface="Cambria"/>
                <a:ea typeface="Cambria"/>
                <a:cs typeface="Cambria"/>
                <a:sym typeface="Cambria"/>
              </a:rPr>
              <a:t>Sprint </a:t>
            </a:r>
            <a:r>
              <a:rPr b="1" lang="en-US">
                <a:solidFill>
                  <a:srgbClr val="132B45"/>
                </a:solidFill>
                <a:latin typeface="Cambria"/>
                <a:ea typeface="Cambria"/>
                <a:cs typeface="Cambria"/>
                <a:sym typeface="Cambria"/>
              </a:rPr>
              <a:t>1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p7"/>
          <p:cNvSpPr/>
          <p:nvPr/>
        </p:nvSpPr>
        <p:spPr>
          <a:xfrm>
            <a:off x="2551176" y="2514600"/>
            <a:ext cx="1563624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6F8B"/>
              </a:buClr>
              <a:buSzPts val="1050"/>
              <a:buFont typeface="Calibri"/>
              <a:buNone/>
            </a:pPr>
            <a:r>
              <a:rPr b="1" i="0" lang="en-US" sz="1200" u="none" cap="none" strike="noStrike">
                <a:solidFill>
                  <a:srgbClr val="1F6F8B"/>
                </a:solidFill>
                <a:latin typeface="Calibri"/>
                <a:ea typeface="Calibri"/>
                <a:cs typeface="Calibri"/>
                <a:sym typeface="Calibri"/>
              </a:rPr>
              <a:t>Semanas 5–7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01" name="Google Shape;301;p7"/>
          <p:cNvCxnSpPr/>
          <p:nvPr/>
        </p:nvCxnSpPr>
        <p:spPr>
          <a:xfrm>
            <a:off x="2551176" y="2880360"/>
            <a:ext cx="1563624" cy="0"/>
          </a:xfrm>
          <a:prstGeom prst="straightConnector1">
            <a:avLst/>
          </a:prstGeom>
          <a:noFill/>
          <a:ln cap="flat" cmpd="sng" w="12700">
            <a:solidFill>
              <a:srgbClr val="E3E8ED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02" name="Google Shape;302;p7"/>
          <p:cNvSpPr/>
          <p:nvPr/>
        </p:nvSpPr>
        <p:spPr>
          <a:xfrm>
            <a:off x="2551176" y="3017520"/>
            <a:ext cx="1563624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733"/>
              </a:buClr>
              <a:buSzPts val="1150"/>
              <a:buFont typeface="Calibri"/>
              <a:buNone/>
            </a:pPr>
            <a:r>
              <a:rPr b="1" i="0" lang="en-US" sz="1450" u="none" cap="none" strike="noStrike">
                <a:solidFill>
                  <a:srgbClr val="1B2733"/>
                </a:solidFill>
                <a:latin typeface="Calibri"/>
                <a:ea typeface="Calibri"/>
                <a:cs typeface="Calibri"/>
                <a:sym typeface="Calibri"/>
              </a:rPr>
              <a:t>Arquitectura y Clientes/</a:t>
            </a:r>
            <a:endParaRPr b="1" i="0" sz="1450" u="none" cap="none" strike="noStrike">
              <a:solidFill>
                <a:srgbClr val="1B273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733"/>
              </a:buClr>
              <a:buSzPts val="1150"/>
              <a:buFont typeface="Calibri"/>
              <a:buNone/>
            </a:pPr>
            <a:r>
              <a:rPr b="1" i="0" lang="en-US" sz="1450" u="none" cap="none" strike="noStrike">
                <a:solidFill>
                  <a:srgbClr val="1B2733"/>
                </a:solidFill>
                <a:latin typeface="Calibri"/>
                <a:ea typeface="Calibri"/>
                <a:cs typeface="Calibri"/>
                <a:sym typeface="Calibri"/>
              </a:rPr>
              <a:t>Proveedores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" name="Google Shape;303;p7"/>
          <p:cNvSpPr/>
          <p:nvPr/>
        </p:nvSpPr>
        <p:spPr>
          <a:xfrm>
            <a:off x="2551175" y="3840500"/>
            <a:ext cx="1563600" cy="2103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B6B79"/>
              </a:buClr>
              <a:buSzPts val="1000"/>
              <a:buFont typeface="Calibri"/>
              <a:buNone/>
            </a:pPr>
            <a:r>
              <a:rPr b="0" i="0" lang="en-US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Diseño de BD y arquitectura; gestión de clientes y proveedores.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4" name="Google Shape;304;p7"/>
          <p:cNvSpPr/>
          <p:nvPr/>
        </p:nvSpPr>
        <p:spPr>
          <a:xfrm>
            <a:off x="4334256" y="2011680"/>
            <a:ext cx="1783080" cy="4114800"/>
          </a:xfrm>
          <a:prstGeom prst="roundRect">
            <a:avLst>
              <a:gd fmla="val 5128" name="adj"/>
            </a:avLst>
          </a:prstGeom>
          <a:solidFill>
            <a:srgbClr val="F6F8FA"/>
          </a:solidFill>
          <a:ln cap="flat" cmpd="sng" w="12700">
            <a:solidFill>
              <a:srgbClr val="E3E8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5" name="Google Shape;305;p7"/>
          <p:cNvSpPr/>
          <p:nvPr/>
        </p:nvSpPr>
        <p:spPr>
          <a:xfrm>
            <a:off x="4443984" y="2176272"/>
            <a:ext cx="1563624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32B45"/>
              </a:buClr>
              <a:buSzPts val="1400"/>
              <a:buFont typeface="Cambria"/>
              <a:buNone/>
            </a:pPr>
            <a:r>
              <a:rPr b="1" i="0" lang="en-US" sz="1400" u="none" cap="none" strike="noStrike">
                <a:solidFill>
                  <a:srgbClr val="132B45"/>
                </a:solidFill>
                <a:latin typeface="Cambria"/>
                <a:ea typeface="Cambria"/>
                <a:cs typeface="Cambria"/>
                <a:sym typeface="Cambria"/>
              </a:rPr>
              <a:t>Sprint </a:t>
            </a:r>
            <a:r>
              <a:rPr b="1" lang="en-US">
                <a:solidFill>
                  <a:srgbClr val="132B45"/>
                </a:solidFill>
                <a:latin typeface="Cambria"/>
                <a:ea typeface="Cambria"/>
                <a:cs typeface="Cambria"/>
                <a:sym typeface="Cambria"/>
              </a:rPr>
              <a:t>2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" name="Google Shape;306;p7"/>
          <p:cNvSpPr/>
          <p:nvPr/>
        </p:nvSpPr>
        <p:spPr>
          <a:xfrm>
            <a:off x="4443984" y="2514600"/>
            <a:ext cx="1563624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6F8B"/>
              </a:buClr>
              <a:buSzPts val="1050"/>
              <a:buFont typeface="Calibri"/>
              <a:buNone/>
            </a:pPr>
            <a:r>
              <a:rPr b="1" i="0" lang="en-US" sz="1200" u="none" cap="none" strike="noStrike">
                <a:solidFill>
                  <a:srgbClr val="1F6F8B"/>
                </a:solidFill>
                <a:latin typeface="Calibri"/>
                <a:ea typeface="Calibri"/>
                <a:cs typeface="Calibri"/>
                <a:sym typeface="Calibri"/>
              </a:rPr>
              <a:t>Semanas 8–11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07" name="Google Shape;307;p7"/>
          <p:cNvCxnSpPr/>
          <p:nvPr/>
        </p:nvCxnSpPr>
        <p:spPr>
          <a:xfrm>
            <a:off x="4443984" y="2880360"/>
            <a:ext cx="1563624" cy="0"/>
          </a:xfrm>
          <a:prstGeom prst="straightConnector1">
            <a:avLst/>
          </a:prstGeom>
          <a:noFill/>
          <a:ln cap="flat" cmpd="sng" w="12700">
            <a:solidFill>
              <a:srgbClr val="E3E8ED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08" name="Google Shape;308;p7"/>
          <p:cNvSpPr/>
          <p:nvPr/>
        </p:nvSpPr>
        <p:spPr>
          <a:xfrm>
            <a:off x="4443984" y="3017520"/>
            <a:ext cx="1563624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733"/>
              </a:buClr>
              <a:buSzPts val="1150"/>
              <a:buFont typeface="Calibri"/>
              <a:buNone/>
            </a:pPr>
            <a:r>
              <a:rPr b="1" i="0" lang="en-US" sz="1450" u="none" cap="none" strike="noStrike">
                <a:solidFill>
                  <a:srgbClr val="1B2733"/>
                </a:solidFill>
                <a:latin typeface="Calibri"/>
                <a:ea typeface="Calibri"/>
                <a:cs typeface="Calibri"/>
                <a:sym typeface="Calibri"/>
              </a:rPr>
              <a:t>Proyectos, costos y facturación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" name="Google Shape;309;p7"/>
          <p:cNvSpPr/>
          <p:nvPr/>
        </p:nvSpPr>
        <p:spPr>
          <a:xfrm>
            <a:off x="4443981" y="3840500"/>
            <a:ext cx="1563600" cy="2103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B6B79"/>
              </a:buClr>
              <a:buSzPts val="1000"/>
              <a:buFont typeface="Calibri"/>
              <a:buNone/>
            </a:pPr>
            <a:r>
              <a:rPr b="0" i="0" lang="en-US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Gestión de proyectos/costos y de compras, ventas y facturación.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0" name="Google Shape;310;p7"/>
          <p:cNvSpPr/>
          <p:nvPr/>
        </p:nvSpPr>
        <p:spPr>
          <a:xfrm>
            <a:off x="6227064" y="2011680"/>
            <a:ext cx="1783080" cy="4114800"/>
          </a:xfrm>
          <a:prstGeom prst="roundRect">
            <a:avLst>
              <a:gd fmla="val 5128" name="adj"/>
            </a:avLst>
          </a:prstGeom>
          <a:solidFill>
            <a:srgbClr val="F6F8FA"/>
          </a:solidFill>
          <a:ln cap="flat" cmpd="sng" w="12700">
            <a:solidFill>
              <a:srgbClr val="E3E8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1" name="Google Shape;311;p7"/>
          <p:cNvSpPr/>
          <p:nvPr/>
        </p:nvSpPr>
        <p:spPr>
          <a:xfrm>
            <a:off x="6336792" y="2176272"/>
            <a:ext cx="1563624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32B45"/>
              </a:buClr>
              <a:buSzPts val="1400"/>
              <a:buFont typeface="Cambria"/>
              <a:buNone/>
            </a:pPr>
            <a:r>
              <a:rPr b="1" i="0" lang="en-US" sz="1400" u="none" cap="none" strike="noStrike">
                <a:solidFill>
                  <a:srgbClr val="132B45"/>
                </a:solidFill>
                <a:latin typeface="Cambria"/>
                <a:ea typeface="Cambria"/>
                <a:cs typeface="Cambria"/>
                <a:sym typeface="Cambria"/>
              </a:rPr>
              <a:t>Sprint </a:t>
            </a:r>
            <a:r>
              <a:rPr b="1" lang="en-US">
                <a:solidFill>
                  <a:srgbClr val="132B45"/>
                </a:solidFill>
                <a:latin typeface="Cambria"/>
                <a:ea typeface="Cambria"/>
                <a:cs typeface="Cambria"/>
                <a:sym typeface="Cambria"/>
              </a:rPr>
              <a:t>3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p7"/>
          <p:cNvSpPr/>
          <p:nvPr/>
        </p:nvSpPr>
        <p:spPr>
          <a:xfrm>
            <a:off x="6336792" y="2514600"/>
            <a:ext cx="1563624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6F8B"/>
              </a:buClr>
              <a:buSzPts val="1050"/>
              <a:buFont typeface="Calibri"/>
              <a:buNone/>
            </a:pPr>
            <a:r>
              <a:rPr b="1" i="0" lang="en-US" sz="1200" u="none" cap="none" strike="noStrike">
                <a:solidFill>
                  <a:srgbClr val="1F6F8B"/>
                </a:solidFill>
                <a:latin typeface="Calibri"/>
                <a:ea typeface="Calibri"/>
                <a:cs typeface="Calibri"/>
                <a:sym typeface="Calibri"/>
              </a:rPr>
              <a:t>Semanas 12–14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13" name="Google Shape;313;p7"/>
          <p:cNvCxnSpPr/>
          <p:nvPr/>
        </p:nvCxnSpPr>
        <p:spPr>
          <a:xfrm>
            <a:off x="6336792" y="2880360"/>
            <a:ext cx="1563624" cy="0"/>
          </a:xfrm>
          <a:prstGeom prst="straightConnector1">
            <a:avLst/>
          </a:prstGeom>
          <a:noFill/>
          <a:ln cap="flat" cmpd="sng" w="12700">
            <a:solidFill>
              <a:srgbClr val="E3E8ED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14" name="Google Shape;314;p7"/>
          <p:cNvSpPr/>
          <p:nvPr/>
        </p:nvSpPr>
        <p:spPr>
          <a:xfrm>
            <a:off x="6336792" y="3017520"/>
            <a:ext cx="1563624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733"/>
              </a:buClr>
              <a:buSzPts val="1150"/>
              <a:buFont typeface="Calibri"/>
              <a:buNone/>
            </a:pPr>
            <a:r>
              <a:rPr b="1" i="0" lang="en-US" sz="1450" u="none" cap="none" strike="noStrike">
                <a:solidFill>
                  <a:srgbClr val="1B2733"/>
                </a:solidFill>
                <a:latin typeface="Calibri"/>
                <a:ea typeface="Calibri"/>
                <a:cs typeface="Calibri"/>
                <a:sym typeface="Calibri"/>
              </a:rPr>
              <a:t>Datos e inicio módulo predictivo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" name="Google Shape;315;p7"/>
          <p:cNvSpPr/>
          <p:nvPr/>
        </p:nvSpPr>
        <p:spPr>
          <a:xfrm>
            <a:off x="6336788" y="3840500"/>
            <a:ext cx="1563600" cy="2103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B6B79"/>
              </a:buClr>
              <a:buSzPts val="1000"/>
              <a:buFont typeface="Calibri"/>
              <a:buNone/>
            </a:pPr>
            <a:r>
              <a:rPr b="0" i="0" lang="en-US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Integración/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B6B79"/>
              </a:buClr>
              <a:buSzPts val="1000"/>
              <a:buFont typeface="Calibri"/>
              <a:buNone/>
            </a:pPr>
            <a:r>
              <a:rPr b="0" i="0" lang="en-US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preparación de datos históricos; inicio del modelo de IA.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6" name="Google Shape;316;p7"/>
          <p:cNvSpPr/>
          <p:nvPr/>
        </p:nvSpPr>
        <p:spPr>
          <a:xfrm>
            <a:off x="8119872" y="2011680"/>
            <a:ext cx="1783080" cy="4114800"/>
          </a:xfrm>
          <a:prstGeom prst="roundRect">
            <a:avLst>
              <a:gd fmla="val 5128" name="adj"/>
            </a:avLst>
          </a:prstGeom>
          <a:solidFill>
            <a:srgbClr val="F6F8FA"/>
          </a:solidFill>
          <a:ln cap="flat" cmpd="sng" w="12700">
            <a:solidFill>
              <a:srgbClr val="E3E8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7" name="Google Shape;317;p7"/>
          <p:cNvSpPr/>
          <p:nvPr/>
        </p:nvSpPr>
        <p:spPr>
          <a:xfrm>
            <a:off x="8229600" y="2176272"/>
            <a:ext cx="1563624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32B45"/>
              </a:buClr>
              <a:buSzPts val="1400"/>
              <a:buFont typeface="Cambria"/>
              <a:buNone/>
            </a:pPr>
            <a:r>
              <a:rPr b="1" i="0" lang="en-US" sz="1400" u="none" cap="none" strike="noStrike">
                <a:solidFill>
                  <a:srgbClr val="132B45"/>
                </a:solidFill>
                <a:latin typeface="Cambria"/>
                <a:ea typeface="Cambria"/>
                <a:cs typeface="Cambria"/>
                <a:sym typeface="Cambria"/>
              </a:rPr>
              <a:t>Sprint </a:t>
            </a:r>
            <a:r>
              <a:rPr b="1" lang="en-US">
                <a:solidFill>
                  <a:srgbClr val="132B45"/>
                </a:solidFill>
                <a:latin typeface="Cambria"/>
                <a:ea typeface="Cambria"/>
                <a:cs typeface="Cambria"/>
                <a:sym typeface="Cambria"/>
              </a:rPr>
              <a:t>4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8" name="Google Shape;318;p7"/>
          <p:cNvSpPr/>
          <p:nvPr/>
        </p:nvSpPr>
        <p:spPr>
          <a:xfrm>
            <a:off x="8229600" y="2514600"/>
            <a:ext cx="1563624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6F8B"/>
              </a:buClr>
              <a:buSzPts val="1050"/>
              <a:buFont typeface="Calibri"/>
              <a:buNone/>
            </a:pPr>
            <a:r>
              <a:rPr b="1" i="0" lang="en-US" sz="1200" u="none" cap="none" strike="noStrike">
                <a:solidFill>
                  <a:srgbClr val="1F6F8B"/>
                </a:solidFill>
                <a:latin typeface="Calibri"/>
                <a:ea typeface="Calibri"/>
                <a:cs typeface="Calibri"/>
                <a:sym typeface="Calibri"/>
              </a:rPr>
              <a:t>Semanas 15–16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19" name="Google Shape;319;p7"/>
          <p:cNvCxnSpPr/>
          <p:nvPr/>
        </p:nvCxnSpPr>
        <p:spPr>
          <a:xfrm>
            <a:off x="8229600" y="2880360"/>
            <a:ext cx="1563624" cy="0"/>
          </a:xfrm>
          <a:prstGeom prst="straightConnector1">
            <a:avLst/>
          </a:prstGeom>
          <a:noFill/>
          <a:ln cap="flat" cmpd="sng" w="12700">
            <a:solidFill>
              <a:srgbClr val="E3E8ED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20" name="Google Shape;320;p7"/>
          <p:cNvSpPr/>
          <p:nvPr/>
        </p:nvSpPr>
        <p:spPr>
          <a:xfrm>
            <a:off x="8229600" y="3017520"/>
            <a:ext cx="1563624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733"/>
              </a:buClr>
              <a:buSzPts val="1150"/>
              <a:buFont typeface="Calibri"/>
              <a:buNone/>
            </a:pPr>
            <a:r>
              <a:rPr b="1" i="0" lang="en-US" sz="1450" u="none" cap="none" strike="noStrike">
                <a:solidFill>
                  <a:srgbClr val="1B2733"/>
                </a:solidFill>
                <a:latin typeface="Calibri"/>
                <a:ea typeface="Calibri"/>
                <a:cs typeface="Calibri"/>
                <a:sym typeface="Calibri"/>
              </a:rPr>
              <a:t>Dashboards, roles y predicción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1" name="Google Shape;321;p7"/>
          <p:cNvSpPr/>
          <p:nvPr/>
        </p:nvSpPr>
        <p:spPr>
          <a:xfrm>
            <a:off x="8229594" y="3840500"/>
            <a:ext cx="1563600" cy="2103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B6B79"/>
              </a:buClr>
              <a:buSzPts val="1000"/>
              <a:buFont typeface="Calibri"/>
              <a:buNone/>
            </a:pPr>
            <a:r>
              <a:rPr b="0" i="0" lang="en-US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Dashboards, usuarios, roles y notificaciones; cierre del modelo predictivo.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2" name="Google Shape;322;p7"/>
          <p:cNvSpPr/>
          <p:nvPr/>
        </p:nvSpPr>
        <p:spPr>
          <a:xfrm>
            <a:off x="10012680" y="2011680"/>
            <a:ext cx="1783080" cy="4114800"/>
          </a:xfrm>
          <a:prstGeom prst="roundRect">
            <a:avLst>
              <a:gd fmla="val 5128" name="adj"/>
            </a:avLst>
          </a:prstGeom>
          <a:solidFill>
            <a:srgbClr val="F6F8FA"/>
          </a:solidFill>
          <a:ln cap="flat" cmpd="sng" w="12700">
            <a:solidFill>
              <a:srgbClr val="E3E8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3" name="Google Shape;323;p7"/>
          <p:cNvSpPr/>
          <p:nvPr/>
        </p:nvSpPr>
        <p:spPr>
          <a:xfrm>
            <a:off x="10122408" y="2176272"/>
            <a:ext cx="1563624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32B45"/>
              </a:buClr>
              <a:buSzPts val="1400"/>
              <a:buFont typeface="Cambria"/>
              <a:buNone/>
            </a:pPr>
            <a:r>
              <a:rPr b="1" i="0" lang="en-US" sz="1400" u="none" cap="none" strike="noStrike">
                <a:solidFill>
                  <a:srgbClr val="132B45"/>
                </a:solidFill>
                <a:latin typeface="Cambria"/>
                <a:ea typeface="Cambria"/>
                <a:cs typeface="Cambria"/>
                <a:sym typeface="Cambria"/>
              </a:rPr>
              <a:t>Sprint </a:t>
            </a:r>
            <a:r>
              <a:rPr b="1" lang="en-US">
                <a:solidFill>
                  <a:srgbClr val="132B45"/>
                </a:solidFill>
                <a:latin typeface="Cambria"/>
                <a:ea typeface="Cambria"/>
                <a:cs typeface="Cambria"/>
                <a:sym typeface="Cambria"/>
              </a:rPr>
              <a:t>5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" name="Google Shape;324;p7"/>
          <p:cNvSpPr/>
          <p:nvPr/>
        </p:nvSpPr>
        <p:spPr>
          <a:xfrm>
            <a:off x="10122408" y="2514600"/>
            <a:ext cx="1563624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6F8B"/>
              </a:buClr>
              <a:buSzPts val="1050"/>
              <a:buFont typeface="Calibri"/>
              <a:buNone/>
            </a:pPr>
            <a:r>
              <a:rPr b="1" i="0" lang="en-US" sz="1200" u="none" cap="none" strike="noStrike">
                <a:solidFill>
                  <a:srgbClr val="1F6F8B"/>
                </a:solidFill>
                <a:latin typeface="Calibri"/>
                <a:ea typeface="Calibri"/>
                <a:cs typeface="Calibri"/>
                <a:sym typeface="Calibri"/>
              </a:rPr>
              <a:t>Semanas 17–18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25" name="Google Shape;325;p7"/>
          <p:cNvCxnSpPr/>
          <p:nvPr/>
        </p:nvCxnSpPr>
        <p:spPr>
          <a:xfrm>
            <a:off x="10122408" y="2880360"/>
            <a:ext cx="1563624" cy="0"/>
          </a:xfrm>
          <a:prstGeom prst="straightConnector1">
            <a:avLst/>
          </a:prstGeom>
          <a:noFill/>
          <a:ln cap="flat" cmpd="sng" w="12700">
            <a:solidFill>
              <a:srgbClr val="E3E8ED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26" name="Google Shape;326;p7"/>
          <p:cNvSpPr/>
          <p:nvPr/>
        </p:nvSpPr>
        <p:spPr>
          <a:xfrm>
            <a:off x="10122408" y="3017520"/>
            <a:ext cx="1563624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733"/>
              </a:buClr>
              <a:buSzPts val="1150"/>
              <a:buFont typeface="Calibri"/>
              <a:buNone/>
            </a:pPr>
            <a:r>
              <a:rPr b="1" i="0" lang="en-US" sz="1450" u="none" cap="none" strike="noStrike">
                <a:solidFill>
                  <a:srgbClr val="1B2733"/>
                </a:solidFill>
                <a:latin typeface="Calibri"/>
                <a:ea typeface="Calibri"/>
                <a:cs typeface="Calibri"/>
                <a:sym typeface="Calibri"/>
              </a:rPr>
              <a:t>Integración y despliegue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7" name="Google Shape;327;p7"/>
          <p:cNvSpPr/>
          <p:nvPr/>
        </p:nvSpPr>
        <p:spPr>
          <a:xfrm>
            <a:off x="10122400" y="3840500"/>
            <a:ext cx="1563600" cy="2103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B6B79"/>
              </a:buClr>
              <a:buSzPts val="1000"/>
              <a:buFont typeface="Calibri"/>
              <a:buNone/>
            </a:pPr>
            <a:r>
              <a:rPr b="0" i="0" lang="en-US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Integración final, pruebas, corrección de errores y validación con el cliente.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8" name="Google Shape;328;p7"/>
          <p:cNvSpPr/>
          <p:nvPr/>
        </p:nvSpPr>
        <p:spPr>
          <a:xfrm>
            <a:off x="548640" y="6263640"/>
            <a:ext cx="110642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B6B79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Fase 1: Definición (S1–4)   ·   Fase 2: Desarrollo (S5–16)   ·   Fase 3: Cierre (S17–18)</a:t>
            </a:r>
            <a:endParaRPr b="1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9" name="Google Shape;329;p7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B6B79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B6B79"/>
                </a:solidFill>
                <a:latin typeface="Calibri"/>
                <a:ea typeface="Calibri"/>
                <a:cs typeface="Calibri"/>
                <a:sym typeface="Calibri"/>
              </a:rPr>
              <a:t>07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0" name="Google Shape;330;p7"/>
          <p:cNvSpPr/>
          <p:nvPr/>
        </p:nvSpPr>
        <p:spPr>
          <a:xfrm>
            <a:off x="142675" y="1417325"/>
            <a:ext cx="119937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B6B79"/>
              </a:buClr>
              <a:buSzPts val="1200"/>
              <a:buFont typeface="Calibri"/>
              <a:buNone/>
            </a:pPr>
            <a:r>
              <a:rPr b="1" i="1" lang="en-US" sz="1400" u="none" cap="none" strike="noStrike">
                <a:solidFill>
                  <a:srgbClr val="434343"/>
                </a:solidFill>
                <a:latin typeface="Calibri"/>
                <a:ea typeface="Calibri"/>
                <a:cs typeface="Calibri"/>
                <a:sym typeface="Calibri"/>
              </a:rPr>
              <a:t>Metodología Scrum: las responsabilidades se distribuyen según competencias y podrán ajustarse entre integrantes de acuerdo a las necesidades de cada Sprint.</a:t>
            </a:r>
            <a:endParaRPr b="1" i="0" sz="1400" u="none" cap="none" strike="noStrike">
              <a:solidFill>
                <a:srgbClr val="43434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p11"/>
          <p:cNvSpPr/>
          <p:nvPr/>
        </p:nvSpPr>
        <p:spPr>
          <a:xfrm>
            <a:off x="-1280160" y="-1463040"/>
            <a:ext cx="4572000" cy="4572000"/>
          </a:xfrm>
          <a:prstGeom prst="ellipse">
            <a:avLst/>
          </a:prstGeom>
          <a:solidFill>
            <a:srgbClr val="1F6F8B">
              <a:alpha val="2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7" name="Google Shape;337;p11"/>
          <p:cNvSpPr/>
          <p:nvPr/>
        </p:nvSpPr>
        <p:spPr>
          <a:xfrm>
            <a:off x="9875520" y="3840480"/>
            <a:ext cx="4206300" cy="4206300"/>
          </a:xfrm>
          <a:prstGeom prst="ellipse">
            <a:avLst/>
          </a:prstGeom>
          <a:solidFill>
            <a:srgbClr val="F2A900">
              <a:alpha val="1490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38" name="Google Shape;338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30560" y="246307"/>
            <a:ext cx="10402661" cy="597803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32B45"/>
        </a:solidFill>
      </p:bgPr>
    </p:bg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10"/>
          <p:cNvSpPr/>
          <p:nvPr/>
        </p:nvSpPr>
        <p:spPr>
          <a:xfrm>
            <a:off x="-1280160" y="-1463040"/>
            <a:ext cx="4572000" cy="4572000"/>
          </a:xfrm>
          <a:prstGeom prst="ellipse">
            <a:avLst/>
          </a:prstGeom>
          <a:solidFill>
            <a:srgbClr val="1F6F8B">
              <a:alpha val="2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5" name="Google Shape;345;p10"/>
          <p:cNvSpPr/>
          <p:nvPr/>
        </p:nvSpPr>
        <p:spPr>
          <a:xfrm>
            <a:off x="9875520" y="3840480"/>
            <a:ext cx="4206240" cy="4206240"/>
          </a:xfrm>
          <a:prstGeom prst="ellipse">
            <a:avLst/>
          </a:prstGeom>
          <a:solidFill>
            <a:srgbClr val="F2A900">
              <a:alpha val="1490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6" name="Google Shape;346;p10"/>
          <p:cNvSpPr/>
          <p:nvPr/>
        </p:nvSpPr>
        <p:spPr>
          <a:xfrm>
            <a:off x="822960" y="2468880"/>
            <a:ext cx="10515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Cambria"/>
              <a:buNone/>
            </a:pPr>
            <a:r>
              <a:rPr b="1" i="0" lang="en-US" sz="44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SEI DIGITALS</a:t>
            </a:r>
            <a:endParaRPr b="0" i="0" sz="4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7" name="Google Shape;347;p10"/>
          <p:cNvSpPr/>
          <p:nvPr/>
        </p:nvSpPr>
        <p:spPr>
          <a:xfrm>
            <a:off x="822960" y="3337560"/>
            <a:ext cx="10515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FE0EA"/>
              </a:buClr>
              <a:buSzPts val="2000"/>
              <a:buFont typeface="Calibri"/>
              <a:buNone/>
            </a:pPr>
            <a:r>
              <a:rPr b="0" i="1" lang="en-US" sz="2000" u="none" cap="none" strike="noStrike">
                <a:solidFill>
                  <a:srgbClr val="CFE0EA"/>
                </a:solidFill>
                <a:latin typeface="Calibri"/>
                <a:ea typeface="Calibri"/>
                <a:cs typeface="Calibri"/>
                <a:sym typeface="Calibri"/>
              </a:rPr>
              <a:t>Gracias por su atención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48" name="Google Shape;348;p10"/>
          <p:cNvCxnSpPr/>
          <p:nvPr/>
        </p:nvCxnSpPr>
        <p:spPr>
          <a:xfrm>
            <a:off x="822960" y="4069080"/>
            <a:ext cx="2926080" cy="0"/>
          </a:xfrm>
          <a:prstGeom prst="straightConnector1">
            <a:avLst/>
          </a:prstGeom>
          <a:noFill/>
          <a:ln cap="flat" cmpd="sng" w="25400">
            <a:solidFill>
              <a:srgbClr val="F2A9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49" name="Google Shape;349;p10"/>
          <p:cNvSpPr/>
          <p:nvPr/>
        </p:nvSpPr>
        <p:spPr>
          <a:xfrm>
            <a:off x="822960" y="4251960"/>
            <a:ext cx="9144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FB4C2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9FB4C2"/>
                </a:solidFill>
                <a:latin typeface="Calibri"/>
                <a:ea typeface="Calibri"/>
                <a:cs typeface="Calibri"/>
                <a:sym typeface="Calibri"/>
              </a:rPr>
              <a:t>Moisés Roa   ·   Tomás Vega   ·   Natanael Yáñez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2026-09-01T22:53:37Z</dcterms:created>
  <dc:creator>PptxGenJS</dc:creator>
</cp:coreProperties>
</file>