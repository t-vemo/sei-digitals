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4cdkSTTxqF2MkJbiKRRsta5/k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6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0" name="Google Shape;13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" name="Google Shape;20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8" name="Google Shape;28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" name="Google Shape;333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4" name="Google Shape;334;p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2" name="Google Shape;34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9f02b4fd3_0_51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6" name="Google Shape;16;g3f9f02b4fd3_0_51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7" name="Google Shape;17;g3f9f02b4fd3_0_5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f9f02b4fd3_0_55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0" name="Google Shape;20;g3f9f02b4fd3_0_5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9f02b4fd3_0_5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3" name="Google Shape;23;g3f9f02b4fd3_0_58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4" name="Google Shape;24;g3f9f02b4fd3_0_5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9f02b4fd3_0_62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g3f9f02b4fd3_0_62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8" name="Google Shape;28;g3f9f02b4fd3_0_62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9" name="Google Shape;29;g3f9f02b4fd3_0_6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f9f02b4fd3_0_67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2" name="Google Shape;32;g3f9f02b4fd3_0_6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f9f02b4fd3_0_70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5" name="Google Shape;35;g3f9f02b4fd3_0_70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6" name="Google Shape;36;g3f9f02b4fd3_0_7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f9f02b4fd3_0_74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9" name="Google Shape;39;g3f9f02b4fd3_0_7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f9f02b4fd3_0_77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g3f9f02b4fd3_0_77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43" name="Google Shape;43;g3f9f02b4fd3_0_77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4" name="Google Shape;44;g3f9f02b4fd3_0_77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5" name="Google Shape;45;g3f9f02b4fd3_0_7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f9f02b4fd3_0_83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8" name="Google Shape;48;g3f9f02b4fd3_0_8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f9f02b4fd3_0_86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1" name="Google Shape;51;g3f9f02b4fd3_0_86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2" name="Google Shape;52;g3f9f02b4fd3_0_8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f9f02b4fd3_0_9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9f02b4fd3_0_47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g3f9f02b4fd3_0_47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92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92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92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92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92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92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92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g3f9f02b4fd3_0_4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2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"/>
          <p:cNvSpPr/>
          <p:nvPr/>
        </p:nvSpPr>
        <p:spPr>
          <a:xfrm>
            <a:off x="777260" y="1463045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A90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F6A23"/>
                </a:solidFill>
                <a:latin typeface="Calibri"/>
                <a:ea typeface="Calibri"/>
                <a:cs typeface="Calibri"/>
                <a:sym typeface="Calibri"/>
              </a:rPr>
              <a:t>PROYECTO APT · FASE 1 — DEFINICIÓN</a:t>
            </a:r>
            <a:endParaRPr b="0" i="0" sz="1400" u="none" cap="none" strike="noStrike">
              <a:solidFill>
                <a:srgbClr val="EF6A2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777240" y="1828800"/>
            <a:ext cx="96012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i="0" lang="en-US" sz="6000" u="none" cap="none" strike="noStrike">
                <a:solidFill>
                  <a:srgbClr val="EF6A23"/>
                </a:solidFill>
                <a:latin typeface="Cambria"/>
                <a:ea typeface="Cambria"/>
                <a:cs typeface="Cambria"/>
                <a:sym typeface="Cambria"/>
              </a:rPr>
              <a:t>SEI DIGITALS</a:t>
            </a:r>
            <a:endParaRPr b="0" i="0" sz="6000" u="none" cap="none" strike="noStrike">
              <a:solidFill>
                <a:srgbClr val="EF6A2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822950" y="2971800"/>
            <a:ext cx="4965600" cy="97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Plataforma web de gestión integral con dashboards y analítica predictiva para FL Servicios Eléctricos Integrales SpA</a:t>
            </a:r>
            <a:endParaRPr b="0" i="0" sz="17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p1"/>
          <p:cNvCxnSpPr/>
          <p:nvPr/>
        </p:nvCxnSpPr>
        <p:spPr>
          <a:xfrm>
            <a:off x="822960" y="4197840"/>
            <a:ext cx="2926200" cy="0"/>
          </a:xfrm>
          <a:prstGeom prst="straightConnector1">
            <a:avLst/>
          </a:prstGeom>
          <a:noFill/>
          <a:ln cap="flat" cmpd="sng" w="25400">
            <a:solidFill>
              <a:srgbClr val="F2A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1"/>
          <p:cNvSpPr/>
          <p:nvPr/>
        </p:nvSpPr>
        <p:spPr>
          <a:xfrm>
            <a:off x="884085" y="4446200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eam.png" id="65" name="Google Shape;6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6955" y="454907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"/>
          <p:cNvSpPr/>
          <p:nvPr/>
        </p:nvSpPr>
        <p:spPr>
          <a:xfrm>
            <a:off x="1478445" y="444620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6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Moisés Roa</a:t>
            </a:r>
            <a:endParaRPr b="0" i="0" sz="1600" u="none" cap="none" strike="noStrik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"/>
          <p:cNvSpPr/>
          <p:nvPr/>
        </p:nvSpPr>
        <p:spPr>
          <a:xfrm>
            <a:off x="3627285" y="4446200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eam.png" id="68" name="Google Shape;6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30155" y="454907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"/>
          <p:cNvSpPr/>
          <p:nvPr/>
        </p:nvSpPr>
        <p:spPr>
          <a:xfrm>
            <a:off x="4221645" y="444620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6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Tomás Vega</a:t>
            </a:r>
            <a:endParaRPr b="0" i="0" sz="1600" u="none" cap="none" strike="noStrik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"/>
          <p:cNvSpPr/>
          <p:nvPr/>
        </p:nvSpPr>
        <p:spPr>
          <a:xfrm>
            <a:off x="6370485" y="4446200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eam.png" id="71" name="Google Shape;7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73355" y="454907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"/>
          <p:cNvSpPr/>
          <p:nvPr/>
        </p:nvSpPr>
        <p:spPr>
          <a:xfrm>
            <a:off x="6964845" y="4446200"/>
            <a:ext cx="210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6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Natanael Yáñez</a:t>
            </a:r>
            <a:endParaRPr b="0" i="0" sz="1600" u="none" cap="none" strike="noStrik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"/>
          <p:cNvSpPr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4C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Ingeniería Informática  ·  Sede Viña del Mar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" title="Screenshot_1 (1)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04375" y="1125475"/>
            <a:ext cx="5014025" cy="308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/>
          <p:nvPr/>
        </p:nvSpPr>
        <p:spPr>
          <a:xfrm>
            <a:off x="548640" y="299473"/>
            <a:ext cx="73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PROBLEMÁTICA Y CONTEXTO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548640" y="658368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Una operación que aún vive en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planillas Excel dispersas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548640" y="1874520"/>
            <a:ext cx="5989320" cy="4160520"/>
          </a:xfrm>
          <a:prstGeom prst="roundRect">
            <a:avLst>
              <a:gd fmla="val 2637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" name="Google Shape;83;p2"/>
          <p:cNvCxnSpPr/>
          <p:nvPr/>
        </p:nvCxnSpPr>
        <p:spPr>
          <a:xfrm>
            <a:off x="868680" y="4069080"/>
            <a:ext cx="5349240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" name="Google Shape;84;p2"/>
          <p:cNvSpPr/>
          <p:nvPr/>
        </p:nvSpPr>
        <p:spPr>
          <a:xfrm>
            <a:off x="868680" y="4251960"/>
            <a:ext cx="539496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2B45"/>
                </a:solidFill>
                <a:latin typeface="Calibri"/>
                <a:ea typeface="Calibri"/>
                <a:cs typeface="Calibri"/>
                <a:sym typeface="Calibri"/>
              </a:rPr>
              <a:t>El lugar</a:t>
            </a:r>
            <a:br>
              <a:rPr b="1" i="0" lang="en-US" sz="1500" u="none" cap="none" strike="noStrike">
                <a:solidFill>
                  <a:srgbClr val="132B4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3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Quinta región, Provincia de Valparaíso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3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Operaciones principalmente en comunas de Viña del Mar y Valparaíso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6766550" y="1874525"/>
            <a:ext cx="4892100" cy="4412700"/>
          </a:xfrm>
          <a:prstGeom prst="roundRect">
            <a:avLst>
              <a:gd fmla="val 2637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7086600" y="210312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A90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2A900"/>
                </a:solidFill>
                <a:latin typeface="Calibri"/>
                <a:ea typeface="Calibri"/>
                <a:cs typeface="Calibri"/>
                <a:sym typeface="Calibri"/>
              </a:rPr>
              <a:t>¿A quiénes afecta?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7086600" y="2606040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eam.png" id="88" name="Google Shape;8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89470" y="270891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"/>
          <p:cNvSpPr/>
          <p:nvPr/>
        </p:nvSpPr>
        <p:spPr>
          <a:xfrm>
            <a:off x="7726680" y="2578608"/>
            <a:ext cx="3703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Gerencia y personal administrativo</a:t>
            </a:r>
            <a:b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D6DE"/>
              </a:buClr>
              <a:buSzPts val="1150"/>
              <a:buFont typeface="Calibri"/>
              <a:buNone/>
            </a:pPr>
            <a:r>
              <a:rPr b="0" i="0" lang="en-US" sz="1350" u="none" cap="none" strike="noStrike">
                <a:solidFill>
                  <a:srgbClr val="C9D6DE"/>
                </a:solidFill>
                <a:latin typeface="Calibri"/>
                <a:ea typeface="Calibri"/>
                <a:cs typeface="Calibri"/>
                <a:sym typeface="Calibri"/>
              </a:rPr>
              <a:t>Responsables de registrar y consolidar la información.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7086600" y="3776472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heart.png" id="91" name="Google Shape;9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89470" y="3879342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"/>
          <p:cNvSpPr/>
          <p:nvPr/>
        </p:nvSpPr>
        <p:spPr>
          <a:xfrm>
            <a:off x="7726680" y="3749040"/>
            <a:ext cx="3703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Clientes</a:t>
            </a:r>
            <a:b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D6DE"/>
              </a:buClr>
              <a:buSzPts val="1150"/>
              <a:buFont typeface="Calibri"/>
              <a:buNone/>
            </a:pPr>
            <a:r>
              <a:rPr b="0" i="0" lang="en-US" sz="1350" u="none" cap="none" strike="noStrike">
                <a:solidFill>
                  <a:srgbClr val="C9D6DE"/>
                </a:solidFill>
                <a:latin typeface="Calibri"/>
                <a:ea typeface="Calibri"/>
                <a:cs typeface="Calibri"/>
                <a:sym typeface="Calibri"/>
              </a:rPr>
              <a:t>Su estado de facturación y pagos debe ser trazable.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7086600" y="4946904"/>
            <a:ext cx="457200" cy="4572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network.png" id="94" name="Google Shape;9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89470" y="5049774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/>
          <p:nvPr/>
        </p:nvSpPr>
        <p:spPr>
          <a:xfrm>
            <a:off x="7726680" y="4919472"/>
            <a:ext cx="3703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Proveedores</a:t>
            </a:r>
            <a:b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D6DE"/>
              </a:buClr>
              <a:buSzPts val="1150"/>
              <a:buFont typeface="Calibri"/>
              <a:buNone/>
            </a:pPr>
            <a:r>
              <a:rPr b="0" i="0" lang="en-US" sz="1350" u="none" cap="none" strike="noStrike">
                <a:solidFill>
                  <a:srgbClr val="C9D6DE"/>
                </a:solidFill>
                <a:latin typeface="Calibri"/>
                <a:ea typeface="Calibri"/>
                <a:cs typeface="Calibri"/>
                <a:sym typeface="Calibri"/>
              </a:rPr>
              <a:t>Sus compras y pagos asociados deben quedar registrados y controlados.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845850" y="2001025"/>
            <a:ext cx="5394900" cy="18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500"/>
              <a:buFont typeface="Calibri"/>
              <a:buNone/>
            </a:pPr>
            <a:r>
              <a:rPr b="1" i="0" lang="en-US" sz="1600" u="none" cap="none" strike="noStrike">
                <a:solidFill>
                  <a:srgbClr val="132B45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B2733"/>
              </a:buClr>
              <a:buSzPts val="1450"/>
              <a:buFont typeface="Calibri"/>
              <a:buChar char="●"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Información operacional manejada manualmente en planillas Excel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450"/>
              <a:buFont typeface="Calibri"/>
              <a:buChar char="●"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Sin centralización de la información ni formatos estandarizados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450"/>
              <a:buFont typeface="Calibri"/>
              <a:buChar char="●"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Dificultad en la organización de los datos y seguimiento de operaciones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450"/>
              <a:buFont typeface="Calibri"/>
              <a:buChar char="●"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KPI´s operacionales deben calcularse manualmente</a:t>
            </a:r>
            <a:endParaRPr b="0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SOLUCIÓN PROPUESTA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548640" y="777243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Una plataforma web que centraliza,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visualiza y proyecta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548640" y="1691640"/>
            <a:ext cx="11064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Plataforma web integral que permite a FL SEI digitalizar y centralizar la gestión de clientes, proveedores, proyectos eléctricos, insumos, mano de obra externa, compras, ventas y facturación, manteniendo un historial completo de las transacciones.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548640" y="2697480"/>
            <a:ext cx="2697480" cy="3246120"/>
          </a:xfrm>
          <a:prstGeom prst="roundRect">
            <a:avLst>
              <a:gd fmla="val 406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1554480" y="3017520"/>
            <a:ext cx="685800" cy="685800"/>
          </a:xfrm>
          <a:prstGeom prst="ellipse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atabase.png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08785" y="317182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/>
          <p:nvPr/>
        </p:nvSpPr>
        <p:spPr>
          <a:xfrm>
            <a:off x="731520" y="38862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50"/>
              <a:buFont typeface="Cambria"/>
              <a:buNone/>
            </a:pPr>
            <a:r>
              <a:rPr b="1" i="0" lang="en-US" sz="165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Gestión centralizada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777240" y="4480560"/>
            <a:ext cx="2240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Clientes, proveedores, proyectos, insumos, mano de obra, compras, ventas y facturación en un solo sistema, con historial completo.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3474720" y="2697480"/>
            <a:ext cx="2697480" cy="3246120"/>
          </a:xfrm>
          <a:prstGeom prst="roundRect">
            <a:avLst>
              <a:gd fmla="val 406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4480560" y="3017520"/>
            <a:ext cx="685800" cy="6858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art.png" id="113" name="Google Shape;11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4865" y="317182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"/>
          <p:cNvSpPr/>
          <p:nvPr/>
        </p:nvSpPr>
        <p:spPr>
          <a:xfrm>
            <a:off x="3657600" y="38862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50"/>
              <a:buFont typeface="Cambria"/>
              <a:buNone/>
            </a:pPr>
            <a:r>
              <a:rPr b="1" i="0" lang="en-US" sz="165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Dashboards dinámicos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3703320" y="4480560"/>
            <a:ext cx="2240400" cy="13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Visualización de operaciones y KPI´s para apoyar la toma de decisiones.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400800" y="2697480"/>
            <a:ext cx="2697480" cy="3246120"/>
          </a:xfrm>
          <a:prstGeom prst="roundRect">
            <a:avLst>
              <a:gd fmla="val 406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network.png" id="118" name="Google Shape;118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60945" y="317182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/>
          <p:nvPr/>
        </p:nvSpPr>
        <p:spPr>
          <a:xfrm>
            <a:off x="6583680" y="38862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50"/>
              <a:buFont typeface="Cambria"/>
              <a:buNone/>
            </a:pPr>
            <a:r>
              <a:rPr b="1" i="0" lang="en-US" sz="165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Módulo predictivo (IA)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6629400" y="4480560"/>
            <a:ext cx="2240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Modelo de Inteligencia Artificial que proyecta ganancias y utilidades futuras a partir de datos históricos.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9326880" y="2697480"/>
            <a:ext cx="2697480" cy="3246120"/>
          </a:xfrm>
          <a:prstGeom prst="roundRect">
            <a:avLst>
              <a:gd fmla="val 406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10332720" y="3017520"/>
            <a:ext cx="685800" cy="6858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shield.png" id="123" name="Google Shape;12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87025" y="317182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/>
          <p:nvPr/>
        </p:nvSpPr>
        <p:spPr>
          <a:xfrm>
            <a:off x="9509760" y="38862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50"/>
              <a:buFont typeface="Cambria"/>
              <a:buNone/>
            </a:pPr>
            <a:r>
              <a:rPr b="1" i="0" lang="en-US" sz="165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Usuarios, roles y notificaciones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9555480" y="4480560"/>
            <a:ext cx="2240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Sistema de accesos por rol y notificaciones automáticas de facturas pendientes de pago.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2B45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A9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2A900"/>
                </a:solidFill>
                <a:latin typeface="Calibri"/>
                <a:ea typeface="Calibri"/>
                <a:cs typeface="Calibri"/>
                <a:sym typeface="Calibri"/>
              </a:rPr>
              <a:t>FACTIBILIDAD DEL PROYECTO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658368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Por qué el proyecto es factible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16165" y="1943110"/>
            <a:ext cx="2697600" cy="3931800"/>
          </a:xfrm>
          <a:prstGeom prst="roundRect">
            <a:avLst>
              <a:gd fmla="val 4068" name="adj"/>
            </a:avLst>
          </a:prstGeom>
          <a:solidFill>
            <a:srgbClr val="1C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1422005" y="2263150"/>
            <a:ext cx="685800" cy="6858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alendar.png" id="136" name="Google Shape;13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6310" y="241745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8"/>
          <p:cNvSpPr/>
          <p:nvPr/>
        </p:nvSpPr>
        <p:spPr>
          <a:xfrm>
            <a:off x="599045" y="3131830"/>
            <a:ext cx="233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Tiempo disponible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644765" y="3726190"/>
            <a:ext cx="2240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18 semanas del semestre, distribuidas en las 3 fases de Portafolio de Título.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3342245" y="1943110"/>
            <a:ext cx="2697600" cy="3931800"/>
          </a:xfrm>
          <a:prstGeom prst="roundRect">
            <a:avLst>
              <a:gd fmla="val 4068" name="adj"/>
            </a:avLst>
          </a:prstGeom>
          <a:solidFill>
            <a:srgbClr val="1C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4348085" y="2263150"/>
            <a:ext cx="685800" cy="6858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laptop.png" id="141" name="Google Shape;14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02390" y="241745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8"/>
          <p:cNvSpPr/>
          <p:nvPr/>
        </p:nvSpPr>
        <p:spPr>
          <a:xfrm>
            <a:off x="3525125" y="3131830"/>
            <a:ext cx="233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Recursos y herramientas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3570845" y="3726190"/>
            <a:ext cx="2240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Equipos propios, frameworks web, motor de base de datos y librerías de analítica predictiva.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6268325" y="1943110"/>
            <a:ext cx="2697600" cy="3931800"/>
          </a:xfrm>
          <a:prstGeom prst="roundRect">
            <a:avLst>
              <a:gd fmla="val 4068" name="adj"/>
            </a:avLst>
          </a:prstGeom>
          <a:solidFill>
            <a:srgbClr val="1C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7274165" y="2263150"/>
            <a:ext cx="685800" cy="6858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heart.png" id="146" name="Google Shape;14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28470" y="241745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/>
          <p:nvPr/>
        </p:nvSpPr>
        <p:spPr>
          <a:xfrm>
            <a:off x="6451205" y="3131830"/>
            <a:ext cx="233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Compromiso del cliente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96925" y="3726190"/>
            <a:ext cx="2240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FL SEI está disponible para entregar información y validar avances con metodología ágil.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9194405" y="1943110"/>
            <a:ext cx="2697600" cy="3931800"/>
          </a:xfrm>
          <a:prstGeom prst="roundRect">
            <a:avLst>
              <a:gd fmla="val 4068" name="adj"/>
            </a:avLst>
          </a:prstGeom>
          <a:solidFill>
            <a:srgbClr val="1C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10200245" y="2263150"/>
            <a:ext cx="685800" cy="6858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shield.png" id="151" name="Google Shape;151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4550" y="2417455"/>
            <a:ext cx="377190" cy="37719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9377285" y="3131830"/>
            <a:ext cx="233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Gestión de riesgos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423005" y="3726190"/>
            <a:ext cx="2240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Posibles demoras o cambios de alcance se mitigan con reuniones periódicas y planificación iterativa.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RELEVANCIA DEL PROYECTO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548640" y="704093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Un proyecto alineado con nuestros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intereses y competencias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548640" y="1783080"/>
            <a:ext cx="5394960" cy="4251960"/>
          </a:xfrm>
          <a:prstGeom prst="roundRect">
            <a:avLst>
              <a:gd fmla="val 2581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heart.png" id="164" name="Google Shape;16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2135124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9"/>
          <p:cNvSpPr/>
          <p:nvPr/>
        </p:nvSpPr>
        <p:spPr>
          <a:xfrm>
            <a:off x="1508760" y="208483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Intereses profesionales del equipo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822960" y="27432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2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El equipo tiene interés en el desarrollo de software full-stack, la gestión de bases de datos y la aplicación de ciencia de datos a problemas de negocio reales.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7" name="Google Shape;167;p9"/>
          <p:cNvCxnSpPr/>
          <p:nvPr/>
        </p:nvCxnSpPr>
        <p:spPr>
          <a:xfrm>
            <a:off x="822960" y="3909058"/>
            <a:ext cx="4846200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" name="Google Shape;168;p9"/>
          <p:cNvSpPr/>
          <p:nvPr/>
        </p:nvSpPr>
        <p:spPr>
          <a:xfrm>
            <a:off x="822950" y="4239126"/>
            <a:ext cx="4846200" cy="16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2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Este Proyecto APT permite aplicar dichos intereses en un caso concreto, integrando desarrollo web, modelado de datos y analítica predictiva, contribuyendo al desarrollo profesional del equipo frente a un desafío real del mundo laboral.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6217920" y="1783080"/>
            <a:ext cx="5394960" cy="4251960"/>
          </a:xfrm>
          <a:prstGeom prst="roundRect">
            <a:avLst>
              <a:gd fmla="val 2581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goal.png" id="171" name="Google Shape;17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15684" y="2135124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9"/>
          <p:cNvSpPr/>
          <p:nvPr/>
        </p:nvSpPr>
        <p:spPr>
          <a:xfrm>
            <a:off x="7178040" y="208483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Pertinencia con el perfil de egreso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6492240" y="2743200"/>
            <a:ext cx="48463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200"/>
              <a:buFont typeface="Calibri"/>
              <a:buNone/>
            </a:pPr>
            <a:r>
              <a:rPr b="0" i="0" lang="en-US" sz="14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El proyecto exige levantar y analizar requerimientos con un cliente real, diseñar y modelar una base de datos relacional, desarrollar el software (frontend, backend e integración de analítica predictiva) y desplegar la solución en producción — competencias centrales de Ingeniería Informática: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6492240" y="4160520"/>
            <a:ext cx="128016" cy="128016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6748272" y="4041648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y levantamiento de requerimientos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6492240" y="4544568"/>
            <a:ext cx="128016" cy="128016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748272" y="4425696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Desarrollo y construcción de software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6492240" y="4928616"/>
            <a:ext cx="128016" cy="128016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6748272" y="4809744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Gestión y modelo de base de datos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492240" y="5312664"/>
            <a:ext cx="128016" cy="128016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748272" y="5193792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Despliegue e integración de soluciones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OBJETIVOS DEL PROYECTO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548653" y="547468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Qué buscamos lograr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4"/>
          <p:cNvSpPr/>
          <p:nvPr/>
        </p:nvSpPr>
        <p:spPr>
          <a:xfrm>
            <a:off x="563853" y="1233890"/>
            <a:ext cx="11064300" cy="1051500"/>
          </a:xfrm>
          <a:prstGeom prst="roundRect">
            <a:avLst>
              <a:gd fmla="val 10435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838173" y="1444202"/>
            <a:ext cx="640200" cy="6402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goal.png" id="192" name="Google Shape;19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2191" y="1588220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4"/>
          <p:cNvSpPr/>
          <p:nvPr/>
        </p:nvSpPr>
        <p:spPr>
          <a:xfrm>
            <a:off x="1564113" y="1371050"/>
            <a:ext cx="10006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A900"/>
              </a:buClr>
              <a:buSzPts val="1250"/>
              <a:buFont typeface="Calibri"/>
              <a:buNone/>
            </a:pPr>
            <a:r>
              <a:rPr b="1" i="0" lang="en-US" sz="1450" u="none" cap="none" strike="noStrike">
                <a:solidFill>
                  <a:srgbClr val="F2A900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br>
              <a:rPr b="1" i="0" lang="en-US" sz="1450" u="none" cap="none" strike="noStrike">
                <a:solidFill>
                  <a:srgbClr val="F2A9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50" u="none" cap="none" strike="noStrike">
                <a:solidFill>
                  <a:srgbClr val="F2A900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para la empresa FL Soluciones Electricas Integrales SpA.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691690" y="258043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Objetivos específicos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83501" y="2412731"/>
            <a:ext cx="1436740" cy="152460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4"/>
          <p:cNvSpPr/>
          <p:nvPr/>
        </p:nvSpPr>
        <p:spPr>
          <a:xfrm>
            <a:off x="838173" y="3409552"/>
            <a:ext cx="2807205" cy="2716039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rgbClr val="1B38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"/>
          <p:cNvSpPr/>
          <p:nvPr/>
        </p:nvSpPr>
        <p:spPr>
          <a:xfrm>
            <a:off x="7863840" y="3429000"/>
            <a:ext cx="2807205" cy="2716039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rgbClr val="1B38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"/>
          <p:cNvSpPr/>
          <p:nvPr/>
        </p:nvSpPr>
        <p:spPr>
          <a:xfrm>
            <a:off x="4351006" y="3429000"/>
            <a:ext cx="2807205" cy="2716039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rgbClr val="1B38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"/>
          <p:cNvSpPr txBox="1"/>
          <p:nvPr/>
        </p:nvSpPr>
        <p:spPr>
          <a:xfrm>
            <a:off x="993795" y="3937340"/>
            <a:ext cx="244048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Objetivo 1: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Levantar requerimientos con la Empresa</a:t>
            </a:r>
            <a:endParaRPr/>
          </a:p>
        </p:txBody>
      </p:sp>
      <p:sp>
        <p:nvSpPr>
          <p:cNvPr id="201" name="Google Shape;201;p4"/>
          <p:cNvSpPr txBox="1"/>
          <p:nvPr/>
        </p:nvSpPr>
        <p:spPr>
          <a:xfrm>
            <a:off x="4496929" y="4089740"/>
            <a:ext cx="244048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Objetivo 2: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Diseñar y desarrollar la plataforma y base de datos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8009763" y="4089739"/>
            <a:ext cx="244048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Objetivo 3: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Desarrollar modulo de IA predictivo de ganancias y utilidades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EQUIPO DE TRABAJO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548652" y="658375"/>
            <a:ext cx="932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Responsabilidades del equipo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548640" y="2057400"/>
            <a:ext cx="3611880" cy="4023360"/>
          </a:xfrm>
          <a:prstGeom prst="roundRect">
            <a:avLst>
              <a:gd fmla="val 303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548640" y="2057400"/>
            <a:ext cx="3611880" cy="1051560"/>
          </a:xfrm>
          <a:prstGeom prst="roundRect">
            <a:avLst>
              <a:gd fmla="val 10435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548640" y="2606040"/>
            <a:ext cx="3611880" cy="502920"/>
          </a:xfrm>
          <a:prstGeom prst="rect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804672" y="2313432"/>
            <a:ext cx="548640" cy="54864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atabase.png" id="214" name="Google Shape;21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" y="2436876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1508760" y="222199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Moisés Roa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1508760" y="2587752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4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Base de Datos &amp; Backend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804672" y="343814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1051560" y="332841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Diseño y modelado de la base de datos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804672" y="430682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051560" y="419709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Lógica de negocio, servicios y APIs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804672" y="517550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1051560" y="506577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Integración con fuentes externas de datos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4343400" y="2057400"/>
            <a:ext cx="3611880" cy="4023360"/>
          </a:xfrm>
          <a:prstGeom prst="roundRect">
            <a:avLst>
              <a:gd fmla="val 303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4343400" y="2057400"/>
            <a:ext cx="3611880" cy="1051560"/>
          </a:xfrm>
          <a:prstGeom prst="roundRect">
            <a:avLst>
              <a:gd fmla="val 10435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4343400" y="2606040"/>
            <a:ext cx="3611880" cy="502920"/>
          </a:xfrm>
          <a:prstGeom prst="rect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4599432" y="2313432"/>
            <a:ext cx="548640" cy="54864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ode.png" id="227" name="Google Shape;22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2876" y="2436876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5"/>
          <p:cNvSpPr/>
          <p:nvPr/>
        </p:nvSpPr>
        <p:spPr>
          <a:xfrm>
            <a:off x="5303520" y="222199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Tomás Vega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5303520" y="2587752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4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Frontend &amp; Calidad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4599432" y="343814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4846320" y="332841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Construcción de la interfaz web y dashboards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4599432" y="430682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4846320" y="419709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Componentes de interacción con el usuario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4599432" y="517550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4846320" y="506577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Elaboración y ejecución de pruebas (testing)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8138160" y="2057400"/>
            <a:ext cx="3611880" cy="4023360"/>
          </a:xfrm>
          <a:prstGeom prst="roundRect">
            <a:avLst>
              <a:gd fmla="val 303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8138160" y="2057400"/>
            <a:ext cx="3611880" cy="1051560"/>
          </a:xfrm>
          <a:prstGeom prst="roundRect">
            <a:avLst>
              <a:gd fmla="val 10435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5"/>
          <p:cNvSpPr/>
          <p:nvPr/>
        </p:nvSpPr>
        <p:spPr>
          <a:xfrm>
            <a:off x="8138160" y="2606040"/>
            <a:ext cx="3611880" cy="502920"/>
          </a:xfrm>
          <a:prstGeom prst="rect">
            <a:avLst/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"/>
          <p:cNvSpPr/>
          <p:nvPr/>
        </p:nvSpPr>
        <p:spPr>
          <a:xfrm>
            <a:off x="8394192" y="2313432"/>
            <a:ext cx="548640" cy="54864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art.png" id="240" name="Google Shape;24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17636" y="2436876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"/>
          <p:cNvSpPr/>
          <p:nvPr/>
        </p:nvSpPr>
        <p:spPr>
          <a:xfrm>
            <a:off x="9098280" y="222199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Natanael Yáñez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"/>
          <p:cNvSpPr/>
          <p:nvPr/>
        </p:nvSpPr>
        <p:spPr>
          <a:xfrm>
            <a:off x="9098280" y="2587752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100"/>
              <a:buFont typeface="Calibri"/>
              <a:buNone/>
            </a:pPr>
            <a:r>
              <a:rPr b="0" i="0" lang="en-US" sz="14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Ciencia de Datos &amp; Despliegue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8394192" y="343814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8641080" y="332841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Levantamiento de requerimientos con el cliente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8394192" y="430682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8641080" y="419709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Modelo predictivo de ganancias y utilidades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/>
          <p:nvPr/>
        </p:nvSpPr>
        <p:spPr>
          <a:xfrm>
            <a:off x="8394192" y="5175504"/>
            <a:ext cx="118872" cy="118872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8641080" y="5065776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0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Configuración del entorno y despliegue final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EVIDENCIAS Y ENTREGABLES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548640" y="658368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Qué se entrega en cada etapa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548640" y="1737360"/>
            <a:ext cx="5349240" cy="502920"/>
          </a:xfrm>
          <a:prstGeom prst="roundRect">
            <a:avLst>
              <a:gd fmla="val 18182" name="adj"/>
            </a:avLst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6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6080760" y="1737360"/>
            <a:ext cx="5532120" cy="502920"/>
          </a:xfrm>
          <a:prstGeom prst="roundRect">
            <a:avLst>
              <a:gd fmla="val 18182" name="adj"/>
            </a:avLst>
          </a:prstGeom>
          <a:solidFill>
            <a:srgbClr val="132B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6"/>
          <p:cNvSpPr/>
          <p:nvPr/>
        </p:nvSpPr>
        <p:spPr>
          <a:xfrm>
            <a:off x="6080760" y="1737360"/>
            <a:ext cx="5532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6"/>
          <p:cNvSpPr/>
          <p:nvPr/>
        </p:nvSpPr>
        <p:spPr>
          <a:xfrm>
            <a:off x="484665" y="2423160"/>
            <a:ext cx="384000" cy="3840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eck.png" id="262" name="Google Shape;26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076" y="2509571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6"/>
          <p:cNvSpPr/>
          <p:nvPr/>
        </p:nvSpPr>
        <p:spPr>
          <a:xfrm>
            <a:off x="1051560" y="237744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Documento de levantamiento de requerimientos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Requerimientos funcionales y no funcionales, historias de usuario y criterios de aceptación.</a:t>
            </a:r>
            <a:endParaRPr b="0" i="0" sz="12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484665" y="3447288"/>
            <a:ext cx="384000" cy="384000"/>
          </a:xfrm>
          <a:prstGeom prst="ellipse">
            <a:avLst/>
          </a:prstGeom>
          <a:solidFill>
            <a:srgbClr val="1F6F8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eck.png" id="265" name="Google Shape;26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076" y="3533699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"/>
          <p:cNvSpPr/>
          <p:nvPr/>
        </p:nvSpPr>
        <p:spPr>
          <a:xfrm>
            <a:off x="1051560" y="3401568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Modelo de Base de Datos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Estructura de información para reemplazar los registros dispersos en Excel.</a:t>
            </a:r>
            <a:endParaRPr b="0" i="0" sz="12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"/>
          <p:cNvSpPr/>
          <p:nvPr/>
        </p:nvSpPr>
        <p:spPr>
          <a:xfrm>
            <a:off x="6048760" y="2574085"/>
            <a:ext cx="384000" cy="3840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evidence.png" id="268" name="Google Shape;26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5171" y="2660496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"/>
          <p:cNvSpPr/>
          <p:nvPr/>
        </p:nvSpPr>
        <p:spPr>
          <a:xfrm>
            <a:off x="6583675" y="2660500"/>
            <a:ext cx="5206500" cy="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Informe de preparación de datos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Revisión, limpieza y tratamiento de los datos históricos del cliente</a:t>
            </a:r>
            <a:r>
              <a:rPr b="0" i="0" lang="en-US" sz="1200" u="none" cap="none" strike="noStrike">
                <a:solidFill>
                  <a:srgbClr val="5B6B7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6048760" y="3415333"/>
            <a:ext cx="384000" cy="3840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evidence.png" id="271" name="Google Shape;27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5171" y="3501744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6"/>
          <p:cNvSpPr/>
          <p:nvPr/>
        </p:nvSpPr>
        <p:spPr>
          <a:xfrm>
            <a:off x="6583675" y="3444260"/>
            <a:ext cx="5206500" cy="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Plataforma Web desplegada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Versión final de la plataforma, en funcionamiento.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6048760" y="4256581"/>
            <a:ext cx="384000" cy="3840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evidence.png" id="274" name="Google Shape;27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5171" y="4342992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6"/>
          <p:cNvSpPr/>
          <p:nvPr/>
        </p:nvSpPr>
        <p:spPr>
          <a:xfrm>
            <a:off x="6583675" y="4228020"/>
            <a:ext cx="5206500" cy="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Dashboards y sistema de reportería</a:t>
            </a:r>
            <a:endParaRPr b="1" i="0" sz="1400" u="none" cap="none" strike="noStrike">
              <a:solidFill>
                <a:srgbClr val="132B4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t/>
            </a:r>
            <a:endParaRPr b="1" i="0" sz="1400" u="none" cap="none" strike="noStrike">
              <a:solidFill>
                <a:srgbClr val="132B4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KPI de la operación de la empresa visualizados dinámicamente.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"/>
          <p:cNvSpPr/>
          <p:nvPr/>
        </p:nvSpPr>
        <p:spPr>
          <a:xfrm>
            <a:off x="6048760" y="5097829"/>
            <a:ext cx="384000" cy="3840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evidence.png" id="277" name="Google Shape;27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5171" y="5184240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6"/>
          <p:cNvSpPr/>
          <p:nvPr/>
        </p:nvSpPr>
        <p:spPr>
          <a:xfrm>
            <a:off x="6583675" y="5083555"/>
            <a:ext cx="5206500" cy="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Módulo predictivo de ganancias y utilidades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Proyecciones generadas con Ciencia de Datos e IA.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6"/>
          <p:cNvSpPr/>
          <p:nvPr/>
        </p:nvSpPr>
        <p:spPr>
          <a:xfrm>
            <a:off x="6048760" y="5939077"/>
            <a:ext cx="384000" cy="384000"/>
          </a:xfrm>
          <a:prstGeom prst="ellipse">
            <a:avLst/>
          </a:prstGeom>
          <a:solidFill>
            <a:srgbClr val="F2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evidence.png" id="280" name="Google Shape;28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5171" y="6025488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6"/>
          <p:cNvSpPr/>
          <p:nvPr/>
        </p:nvSpPr>
        <p:spPr>
          <a:xfrm>
            <a:off x="6583675" y="5939065"/>
            <a:ext cx="5206500" cy="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  <a:t>Usuarios, roles y notificaciones</a:t>
            </a:r>
            <a:br>
              <a:rPr b="1" i="0" lang="en-US" sz="1400" u="none" cap="none" strike="noStrike">
                <a:solidFill>
                  <a:srgbClr val="132B45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0" lang="en-US" sz="125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Control de accesos y alertas automáticas de estado de pago.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2400" y="4422648"/>
            <a:ext cx="2282952" cy="228295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587750" y="4422650"/>
            <a:ext cx="3167001" cy="228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3E8ED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7"/>
          <p:cNvSpPr/>
          <p:nvPr/>
        </p:nvSpPr>
        <p:spPr>
          <a:xfrm>
            <a:off x="548640" y="296323"/>
            <a:ext cx="73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PLANIFICACIÓN · 18 SEMANAS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366850" y="658375"/>
            <a:ext cx="1148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De la definición al despliegue,</a:t>
            </a:r>
            <a:r>
              <a:rPr b="0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3200" u="none" cap="none" strike="noStrike">
                <a:solidFill>
                  <a:srgbClr val="1B2733"/>
                </a:solidFill>
                <a:latin typeface="Cambria"/>
                <a:ea typeface="Cambria"/>
                <a:cs typeface="Cambria"/>
                <a:sym typeface="Cambria"/>
              </a:rPr>
              <a:t>en 6 sprints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548640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132B45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658368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A900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2A900"/>
                </a:solidFill>
                <a:latin typeface="Cambria"/>
                <a:ea typeface="Cambria"/>
                <a:cs typeface="Cambria"/>
                <a:sym typeface="Cambria"/>
              </a:rPr>
              <a:t>Sprint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658368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Semanas 1–4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5" name="Google Shape;295;p7"/>
          <p:cNvCxnSpPr/>
          <p:nvPr/>
        </p:nvCxnSpPr>
        <p:spPr>
          <a:xfrm>
            <a:off x="658368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3E5A7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6" name="Google Shape;296;p7"/>
          <p:cNvSpPr/>
          <p:nvPr/>
        </p:nvSpPr>
        <p:spPr>
          <a:xfrm>
            <a:off x="658368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Levantamiento y Backlog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658368" y="3749040"/>
            <a:ext cx="156362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D6DE"/>
              </a:buClr>
              <a:buSzPts val="1000"/>
              <a:buFont typeface="Calibri"/>
              <a:buNone/>
            </a:pPr>
            <a:r>
              <a:rPr b="0" i="0" lang="en-US" sz="1400" u="none" cap="none" strike="noStrike">
                <a:solidFill>
                  <a:srgbClr val="C9D6DE"/>
                </a:solidFill>
                <a:latin typeface="Calibri"/>
                <a:ea typeface="Calibri"/>
                <a:cs typeface="Calibri"/>
                <a:sym typeface="Calibri"/>
              </a:rPr>
              <a:t>Reuniones con el cliente, análisis de procesos y definición del Product Backlog.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/>
          <p:nvPr/>
        </p:nvSpPr>
        <p:spPr>
          <a:xfrm>
            <a:off x="2441448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7"/>
          <p:cNvSpPr/>
          <p:nvPr/>
        </p:nvSpPr>
        <p:spPr>
          <a:xfrm>
            <a:off x="2551176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Sprint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7"/>
          <p:cNvSpPr/>
          <p:nvPr/>
        </p:nvSpPr>
        <p:spPr>
          <a:xfrm>
            <a:off x="2551176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Semanas 5–7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1" name="Google Shape;301;p7"/>
          <p:cNvCxnSpPr/>
          <p:nvPr/>
        </p:nvCxnSpPr>
        <p:spPr>
          <a:xfrm>
            <a:off x="2551176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" name="Google Shape;302;p7"/>
          <p:cNvSpPr/>
          <p:nvPr/>
        </p:nvSpPr>
        <p:spPr>
          <a:xfrm>
            <a:off x="2551176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Arquitectura y Clientes/</a:t>
            </a:r>
            <a:endParaRPr b="1" i="0" sz="1450" u="none" cap="none" strike="noStrike">
              <a:solidFill>
                <a:srgbClr val="1B27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Proveedores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2551175" y="3840500"/>
            <a:ext cx="1563600" cy="21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Diseño de BD y arquitectura; gestión de clientes y proveedores.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7"/>
          <p:cNvSpPr/>
          <p:nvPr/>
        </p:nvSpPr>
        <p:spPr>
          <a:xfrm>
            <a:off x="4334256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4443984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Sprint 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4443984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Semanas 8–11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7"/>
          <p:cNvCxnSpPr/>
          <p:nvPr/>
        </p:nvCxnSpPr>
        <p:spPr>
          <a:xfrm>
            <a:off x="4443984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8" name="Google Shape;308;p7"/>
          <p:cNvSpPr/>
          <p:nvPr/>
        </p:nvSpPr>
        <p:spPr>
          <a:xfrm>
            <a:off x="4443984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Proyectos, costos y facturación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/>
          <p:nvPr/>
        </p:nvSpPr>
        <p:spPr>
          <a:xfrm>
            <a:off x="4443981" y="3840500"/>
            <a:ext cx="1563600" cy="21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de proyectos/costos y de compras, ventas y facturación.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7"/>
          <p:cNvSpPr/>
          <p:nvPr/>
        </p:nvSpPr>
        <p:spPr>
          <a:xfrm>
            <a:off x="6227064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"/>
          <p:cNvSpPr/>
          <p:nvPr/>
        </p:nvSpPr>
        <p:spPr>
          <a:xfrm>
            <a:off x="6336792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Sprint 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6336792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Semanas 12–14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3" name="Google Shape;313;p7"/>
          <p:cNvCxnSpPr/>
          <p:nvPr/>
        </p:nvCxnSpPr>
        <p:spPr>
          <a:xfrm>
            <a:off x="6336792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4" name="Google Shape;314;p7"/>
          <p:cNvSpPr/>
          <p:nvPr/>
        </p:nvSpPr>
        <p:spPr>
          <a:xfrm>
            <a:off x="6336792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Datos e inicio módulo predictivo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6336788" y="3840500"/>
            <a:ext cx="1563600" cy="21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Integración/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preparación de datos históricos; inicio del modelo de IA.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8119872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8229600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Sprint 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8229600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Semanas 15–16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9" name="Google Shape;319;p7"/>
          <p:cNvCxnSpPr/>
          <p:nvPr/>
        </p:nvCxnSpPr>
        <p:spPr>
          <a:xfrm>
            <a:off x="8229600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0" name="Google Shape;320;p7"/>
          <p:cNvSpPr/>
          <p:nvPr/>
        </p:nvSpPr>
        <p:spPr>
          <a:xfrm>
            <a:off x="8229600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Dashboards, roles y predicción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8229594" y="3840500"/>
            <a:ext cx="1563600" cy="21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Dashboards, usuarios, roles y notificaciones; cierre del modelo predictivo.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10012680" y="2011680"/>
            <a:ext cx="1783080" cy="4114800"/>
          </a:xfrm>
          <a:prstGeom prst="roundRect">
            <a:avLst>
              <a:gd fmla="val 5128" name="adj"/>
            </a:avLst>
          </a:prstGeom>
          <a:solidFill>
            <a:srgbClr val="F6F8FA"/>
          </a:solidFill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10122408" y="2176272"/>
            <a:ext cx="156362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B45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132B45"/>
                </a:solidFill>
                <a:latin typeface="Cambria"/>
                <a:ea typeface="Cambria"/>
                <a:cs typeface="Cambria"/>
                <a:sym typeface="Cambria"/>
              </a:rPr>
              <a:t>Sprint 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/>
          <p:nvPr/>
        </p:nvSpPr>
        <p:spPr>
          <a:xfrm>
            <a:off x="10122408" y="2514600"/>
            <a:ext cx="15636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6F8B"/>
              </a:buClr>
              <a:buSzPts val="1050"/>
              <a:buFont typeface="Calibri"/>
              <a:buNone/>
            </a:pPr>
            <a:r>
              <a:rPr b="1" i="0" lang="en-US" sz="1200" u="none" cap="none" strike="noStrike">
                <a:solidFill>
                  <a:srgbClr val="1F6F8B"/>
                </a:solidFill>
                <a:latin typeface="Calibri"/>
                <a:ea typeface="Calibri"/>
                <a:cs typeface="Calibri"/>
                <a:sym typeface="Calibri"/>
              </a:rPr>
              <a:t>Semanas 17–18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5" name="Google Shape;325;p7"/>
          <p:cNvCxnSpPr/>
          <p:nvPr/>
        </p:nvCxnSpPr>
        <p:spPr>
          <a:xfrm>
            <a:off x="10122408" y="2880360"/>
            <a:ext cx="1563624" cy="0"/>
          </a:xfrm>
          <a:prstGeom prst="straightConnector1">
            <a:avLst/>
          </a:prstGeom>
          <a:noFill/>
          <a:ln cap="flat" cmpd="sng" w="12700">
            <a:solidFill>
              <a:srgbClr val="E3E8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6" name="Google Shape;326;p7"/>
          <p:cNvSpPr/>
          <p:nvPr/>
        </p:nvSpPr>
        <p:spPr>
          <a:xfrm>
            <a:off x="10122408" y="3017520"/>
            <a:ext cx="15636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733"/>
              </a:buClr>
              <a:buSzPts val="1150"/>
              <a:buFont typeface="Calibri"/>
              <a:buNone/>
            </a:pPr>
            <a:r>
              <a:rPr b="1" i="0" lang="en-US" sz="1450" u="none" cap="none" strike="noStrike">
                <a:solidFill>
                  <a:srgbClr val="1B2733"/>
                </a:solidFill>
                <a:latin typeface="Calibri"/>
                <a:ea typeface="Calibri"/>
                <a:cs typeface="Calibri"/>
                <a:sym typeface="Calibri"/>
              </a:rPr>
              <a:t>Integración y despliegue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10122400" y="3840500"/>
            <a:ext cx="1563600" cy="21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Integración final, pruebas, corrección de errores y validación con el cliente.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Fase 1: Definición (S1–4)   ·   Fase 2: Desarrollo (S5–16)   ·   Fase 3: Cierre (S17–18)</a:t>
            </a:r>
            <a:endParaRPr b="1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142675" y="1417325"/>
            <a:ext cx="11993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200"/>
              <a:buFont typeface="Calibri"/>
              <a:buNone/>
            </a:pPr>
            <a:r>
              <a:rPr b="1" i="1" lang="en-US" sz="14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Metodología Scrum: las responsabilidades se distribuyen según competencias y podrán ajustarse entre integrantes de acuerdo a las necesidades de cada Sprint.</a:t>
            </a:r>
            <a:endParaRPr b="1" i="0" sz="1400" u="none" cap="none" strike="noStrik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1"/>
          <p:cNvSpPr/>
          <p:nvPr/>
        </p:nvSpPr>
        <p:spPr>
          <a:xfrm>
            <a:off x="-1280160" y="-1463040"/>
            <a:ext cx="4572000" cy="4572000"/>
          </a:xfrm>
          <a:prstGeom prst="ellipse">
            <a:avLst/>
          </a:prstGeom>
          <a:solidFill>
            <a:srgbClr val="1F6F8B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9875520" y="3840480"/>
            <a:ext cx="4206300" cy="4206300"/>
          </a:xfrm>
          <a:prstGeom prst="ellipse">
            <a:avLst/>
          </a:prstGeom>
          <a:solidFill>
            <a:srgbClr val="F2A900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8" name="Google Shape;33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560" y="246307"/>
            <a:ext cx="10402661" cy="5978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2B45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-1280160" y="-1463040"/>
            <a:ext cx="4572000" cy="4572000"/>
          </a:xfrm>
          <a:prstGeom prst="ellipse">
            <a:avLst/>
          </a:prstGeom>
          <a:solidFill>
            <a:srgbClr val="1F6F8B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9875520" y="3840480"/>
            <a:ext cx="4206240" cy="4206240"/>
          </a:xfrm>
          <a:prstGeom prst="ellipse">
            <a:avLst/>
          </a:prstGeom>
          <a:solidFill>
            <a:srgbClr val="F2A900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SEI DIGITALS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822960" y="333756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FE0EA"/>
              </a:buClr>
              <a:buSzPts val="2000"/>
              <a:buFont typeface="Calibri"/>
              <a:buNone/>
            </a:pPr>
            <a:r>
              <a:rPr b="0" i="1" lang="en-US" sz="2000" u="none" cap="none" strike="noStrike">
                <a:solidFill>
                  <a:srgbClr val="CFE0EA"/>
                </a:solidFill>
                <a:latin typeface="Calibri"/>
                <a:ea typeface="Calibri"/>
                <a:cs typeface="Calibri"/>
                <a:sym typeface="Calibri"/>
              </a:rPr>
              <a:t>Gracias por su atención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8" name="Google Shape;348;p10"/>
          <p:cNvCxnSpPr/>
          <p:nvPr/>
        </p:nvCxnSpPr>
        <p:spPr>
          <a:xfrm>
            <a:off x="822960" y="4069080"/>
            <a:ext cx="2926080" cy="0"/>
          </a:xfrm>
          <a:prstGeom prst="straightConnector1">
            <a:avLst/>
          </a:prstGeom>
          <a:noFill/>
          <a:ln cap="flat" cmpd="sng" w="25400">
            <a:solidFill>
              <a:srgbClr val="F2A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9" name="Google Shape;349;p10"/>
          <p:cNvSpPr/>
          <p:nvPr/>
        </p:nvSpPr>
        <p:spPr>
          <a:xfrm>
            <a:off x="822960" y="42519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4C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4C2"/>
                </a:solidFill>
                <a:latin typeface="Calibri"/>
                <a:ea typeface="Calibri"/>
                <a:cs typeface="Calibri"/>
                <a:sym typeface="Calibri"/>
              </a:rPr>
              <a:t>Moisés Roa   ·   Tomás Vega   ·   Natanael Yáñez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2026-09-01T22:53:37Z</dcterms:created>
  <dc:creator>PptxGenJS</dc:creator>
</cp:coreProperties>
</file>